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product illustration, not recorded gameplay. Native title/body text is editable. The cropped image is from the unchanged Goal006 cover; SHA256 38aa0826a78448c03c99bf717d44817b5aa57b3133071ff05ff6bf0df740ec91. This is a local working deck pending hosted acceptance and source disclosure.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1920x1080 deterministic Practice screenshot: Relay Gallery. Brown route marks are manual player annotations. They are not robot telemetry or automatically communicated knowledge. No real provider was contacted. Full screenshot is included separately.</a:t>
            </a:r>
          </a:p>
          <a:p>
            <a:r>
              <a:t>Availability snapshot: public HTTPS and current Live acceptance pending; source Private pending historical disclosure. Capture UI source 66f1bd206057720275fc9d56a6c9fbe72e409bcd.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actual current Practice screenshots, with native PowerPoint crops. Left: Cargo pending Engage the Latch proposal, not yet executed. Right: Return Dock energy Stored after a confirmed hold-contact action. Physical tools require exact owner-bound UI confirmation before server commit. Human Power/Relay/charge controls are separate. No hands-free claim.</a:t>
            </a:r>
          </a:p>
          <a:p>
            <a:r>
              <a:t>Availability snapshot: public HTTPS and current Live acceptance pending; source Private pending historical disclosure. Capture UI source 66f1bd206057720275fc9d56a6c9fbe72e409bcd.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Actual current Practice confirmed-home screenshot. The optional recorder was selected before starting, locally inspected, picked up only after the exact Secure the flight recorder confirmation, and displayed after verified home. Direct rescue is valid; no hidden recording or provider speech is invented. The arrival scene is an illustration, as labelled in the game.</a:t>
            </a:r>
          </a:p>
          <a:p>
            <a:r>
              <a:t>Availability snapshot: public HTTPS and current Live acceptance pending; source Private pending historical disclosure. Capture UI source 66f1bd206057720275fc9d56a6c9fbe72e409bcd.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Conceptual architecture of the implemented integration, not new Live test evidence. AssemblyAI Voice Agent API uses browser audio and role-safe local function tools; server validates proposals and exact owner confirmation. Provider credentials stay on server. Human maps/annotations do not enter automatic robot context. Practice is deterministic and offline. No screenshot or flattened diagram on this slide.</a:t>
            </a:r>
          </a:p>
          <a:p>
            <a:r>
              <a:t>Availability snapshot: public HTTPS and current Live acceptance pending; source Private pending historical disclosure. Capture UI source 66f1bd206057720275fc9d56a6c9fbe72e409bcd.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intentionally a pending-status snapshot and must be updated only from actual hosted URLs, current candidate Live evidence, visibility receipt and final media verification. Historical Goal005 had one synthetic-microphone real Voice success with ending ACK and one same-build failure without ACK. Neither is proof for the current build. No URL or public-availability claim is invented.</a:t>
            </a:r>
          </a:p>
          <a:p>
            <a:r>
              <a:t>Availability snapshot: public HTTPS and current Live acceptance pending; source Private pending historical disclosure. Capture UI source 66f1bd206057720275fc9d56a6c9fbe72e409bcd.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4382F"/>
        </a:solidFill>
        <a:effectLst/>
      </p:bgPr>
    </p:bg>
    <p:spTree>
      <p:nvGrpSpPr>
        <p:cNvPr id="1" name=""/>
        <p:cNvGrpSpPr/>
        <p:nvPr/>
      </p:nvGrpSpPr>
      <p:grpSpPr/>
      <p:pic>
        <p:nvPicPr>
          <p:cNvPr id="2" name="Picture 1" descr="cover-1920x1080.png"/>
          <p:cNvPicPr>
            <a:picLocks noChangeAspect="1"/>
          </p:cNvPicPr>
          <p:nvPr/>
        </p:nvPicPr>
        <p:blipFill>
          <a:blip r:embed="rId2"/>
          <a:srcRect l="48750"/>
          <a:stretch>
            <a:fillRect/>
          </a:stretch>
        </p:blipFill>
        <p:spPr>
          <a:xfrm>
            <a:off x="5943600" y="0"/>
            <a:ext cx="6248399" cy="6858000"/>
          </a:xfrm>
          <a:prstGeom prst="rect">
            <a:avLst/>
          </a:prstGeom>
        </p:spPr>
      </p:pic>
      <p:sp>
        <p:nvSpPr>
          <p:cNvPr id="3" name="TextBox 2"/>
          <p:cNvSpPr txBox="1"/>
          <p:nvPr/>
        </p:nvSpPr>
        <p:spPr>
          <a:xfrm>
            <a:off x="566928" y="594360"/>
            <a:ext cx="5029200" cy="457200"/>
          </a:xfrm>
          <a:prstGeom prst="rect">
            <a:avLst/>
          </a:prstGeom>
          <a:noFill/>
        </p:spPr>
        <p:txBody>
          <a:bodyPr wrap="square" lIns="0" rIns="0" tIns="0" bIns="0">
            <a:spAutoFit/>
          </a:bodyPr>
          <a:lstStyle/>
          <a:p>
            <a:pPr>
              <a:spcAft>
                <a:spcPts val="800"/>
              </a:spcAft>
              <a:defRPr sz="1400" b="1">
                <a:solidFill>
                  <a:srgbClr val="DCE3D1"/>
                </a:solidFill>
                <a:latin typeface="Liberation Sans"/>
              </a:defRPr>
            </a:pPr>
            <a:r>
              <a:t>COOPERATION THROUGH CONVERSATION</a:t>
            </a:r>
          </a:p>
        </p:txBody>
      </p:sp>
      <p:sp>
        <p:nvSpPr>
          <p:cNvPr id="4" name="TextBox 3"/>
          <p:cNvSpPr txBox="1"/>
          <p:nvPr/>
        </p:nvSpPr>
        <p:spPr>
          <a:xfrm>
            <a:off x="539496" y="1490472"/>
            <a:ext cx="5303520" cy="1645920"/>
          </a:xfrm>
          <a:prstGeom prst="rect">
            <a:avLst/>
          </a:prstGeom>
          <a:noFill/>
        </p:spPr>
        <p:txBody>
          <a:bodyPr wrap="square" lIns="0" rIns="0" tIns="0" bIns="0">
            <a:spAutoFit/>
          </a:bodyPr>
          <a:lstStyle/>
          <a:p>
            <a:pPr>
              <a:spcAft>
                <a:spcPts val="800"/>
              </a:spcAft>
              <a:defRPr sz="5800" b="0">
                <a:solidFill>
                  <a:srgbClr val="F4EFE2"/>
                </a:solidFill>
                <a:latin typeface="Liberation Serif"/>
              </a:defRPr>
            </a:pPr>
            <a:r>
              <a:t>Talk Me</a:t>
            </a:r>
          </a:p>
          <a:p>
            <a:pPr>
              <a:spcAft>
                <a:spcPts val="800"/>
              </a:spcAft>
              <a:defRPr sz="5800" b="0">
                <a:solidFill>
                  <a:srgbClr val="F4EFE2"/>
                </a:solidFill>
                <a:latin typeface="Liberation Serif"/>
              </a:defRPr>
            </a:pPr>
            <a:r>
              <a:t>Home.</a:t>
            </a:r>
          </a:p>
        </p:txBody>
      </p:sp>
      <p:sp>
        <p:nvSpPr>
          <p:cNvPr id="5" name="TextBox 4"/>
          <p:cNvSpPr txBox="1"/>
          <p:nvPr/>
        </p:nvSpPr>
        <p:spPr>
          <a:xfrm>
            <a:off x="576072" y="3767328"/>
            <a:ext cx="4937760" cy="1097280"/>
          </a:xfrm>
          <a:prstGeom prst="rect">
            <a:avLst/>
          </a:prstGeom>
          <a:noFill/>
        </p:spPr>
        <p:txBody>
          <a:bodyPr wrap="square" lIns="0" rIns="0" tIns="0" bIns="0">
            <a:spAutoFit/>
          </a:bodyPr>
          <a:lstStyle/>
          <a:p>
            <a:pPr>
              <a:spcAft>
                <a:spcPts val="800"/>
              </a:spcAft>
              <a:defRPr sz="2500" b="0">
                <a:solidFill>
                  <a:srgbClr val="F4EFE2"/>
                </a:solidFill>
                <a:latin typeface="Liberation Sans"/>
              </a:defRPr>
            </a:pPr>
            <a:r>
              <a:t>You hold the plans.</a:t>
            </a:r>
          </a:p>
          <a:p>
            <a:pPr>
              <a:spcAft>
                <a:spcPts val="800"/>
              </a:spcAft>
              <a:defRPr sz="2500" b="0">
                <a:solidFill>
                  <a:srgbClr val="F4EFE2"/>
                </a:solidFill>
                <a:latin typeface="Liberation Sans"/>
              </a:defRPr>
            </a:pPr>
            <a:r>
              <a:t>Pip has eyes and hands.</a:t>
            </a:r>
          </a:p>
        </p:txBody>
      </p:sp>
      <p:sp>
        <p:nvSpPr>
          <p:cNvPr id="6" name="TextBox 5"/>
          <p:cNvSpPr txBox="1"/>
          <p:nvPr/>
        </p:nvSpPr>
        <p:spPr>
          <a:xfrm>
            <a:off x="585216" y="5166360"/>
            <a:ext cx="4572000" cy="768096"/>
          </a:xfrm>
          <a:prstGeom prst="rect">
            <a:avLst/>
          </a:prstGeom>
          <a:noFill/>
        </p:spPr>
        <p:txBody>
          <a:bodyPr wrap="square" lIns="0" rIns="0" tIns="0" bIns="0">
            <a:spAutoFit/>
          </a:bodyPr>
          <a:lstStyle/>
          <a:p>
            <a:pPr>
              <a:spcAft>
                <a:spcPts val="800"/>
              </a:spcAft>
              <a:defRPr sz="1900" b="0">
                <a:solidFill>
                  <a:srgbClr val="DCE3D1"/>
                </a:solidFill>
                <a:latin typeface="Liberation Sans"/>
              </a:defRPr>
            </a:pPr>
            <a:r>
              <a:t>Share clues. Revise your route.</a:t>
            </a:r>
          </a:p>
          <a:p>
            <a:pPr>
              <a:spcAft>
                <a:spcPts val="800"/>
              </a:spcAft>
              <a:defRPr sz="1900" b="0">
                <a:solidFill>
                  <a:srgbClr val="DCE3D1"/>
                </a:solidFill>
                <a:latin typeface="Liberation Sans"/>
              </a:defRPr>
            </a:pPr>
            <a:r>
              <a:t>Bring your partner home.</a:t>
            </a:r>
          </a:p>
        </p:txBody>
      </p:sp>
      <p:sp>
        <p:nvSpPr>
          <p:cNvPr id="7" name="TextBox 6"/>
          <p:cNvSpPr txBox="1"/>
          <p:nvPr/>
        </p:nvSpPr>
        <p:spPr>
          <a:xfrm>
            <a:off x="585216" y="6272784"/>
            <a:ext cx="4754880" cy="292608"/>
          </a:xfrm>
          <a:prstGeom prst="rect">
            <a:avLst/>
          </a:prstGeom>
          <a:noFill/>
        </p:spPr>
        <p:txBody>
          <a:bodyPr wrap="square" lIns="0" rIns="0" tIns="0" bIns="0">
            <a:spAutoFit/>
          </a:bodyPr>
          <a:lstStyle/>
          <a:p>
            <a:pPr>
              <a:spcAft>
                <a:spcPts val="800"/>
              </a:spcAft>
              <a:defRPr sz="1000" b="0">
                <a:solidFill>
                  <a:srgbClr val="DCE3D1"/>
                </a:solidFill>
                <a:latin typeface="Liberation Sans"/>
              </a:defRPr>
            </a:pPr>
            <a:r>
              <a:t>Local prototype / Goal 007 / release evidence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438912" y="393192"/>
            <a:ext cx="429768" cy="32004"/>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74320"/>
            <a:ext cx="10058400" cy="274320"/>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THE COOPERATIVE LOOP</a:t>
            </a:r>
          </a:p>
        </p:txBody>
      </p:sp>
      <p:sp>
        <p:nvSpPr>
          <p:cNvPr id="4" name="TextBox 3"/>
          <p:cNvSpPr txBox="1"/>
          <p:nvPr/>
        </p:nvSpPr>
        <p:spPr>
          <a:xfrm>
            <a:off x="502920" y="804672"/>
            <a:ext cx="11155680" cy="603504"/>
          </a:xfrm>
          <a:prstGeom prst="rect">
            <a:avLst/>
          </a:prstGeom>
          <a:noFill/>
        </p:spPr>
        <p:txBody>
          <a:bodyPr wrap="square" lIns="0" rIns="0" tIns="0" bIns="0">
            <a:spAutoFit/>
          </a:bodyPr>
          <a:lstStyle/>
          <a:p>
            <a:pPr>
              <a:spcAft>
                <a:spcPts val="800"/>
              </a:spcAft>
              <a:defRPr sz="3200" b="0">
                <a:solidFill>
                  <a:srgbClr val="24382F"/>
                </a:solidFill>
                <a:latin typeface="Liberation Serif"/>
              </a:defRPr>
            </a:pPr>
            <a:r>
              <a:t>A route is a hypothesis.</a:t>
            </a:r>
          </a:p>
        </p:txBody>
      </p:sp>
      <p:sp>
        <p:nvSpPr>
          <p:cNvPr id="5" name="Rectangle 4"/>
          <p:cNvSpPr/>
          <p:nvPr/>
        </p:nvSpPr>
        <p:spPr>
          <a:xfrm>
            <a:off x="502920" y="6419088"/>
            <a:ext cx="11183112" cy="10972"/>
          </a:xfrm>
          <a:prstGeom prst="rect">
            <a:avLst/>
          </a:prstGeom>
          <a:solidFill>
            <a:srgbClr val="CCD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182880"/>
          </a:xfrm>
          <a:prstGeom prst="rect">
            <a:avLst/>
          </a:prstGeom>
          <a:noFill/>
        </p:spPr>
        <p:txBody>
          <a:bodyPr wrap="square" lIns="0" rIns="0" tIns="0" bIns="0">
            <a:spAutoFit/>
          </a:bodyPr>
          <a:lstStyle/>
          <a:p>
            <a:pPr>
              <a:spcAft>
                <a:spcPts val="800"/>
              </a:spcAft>
              <a:defRPr sz="800" b="0">
                <a:solidFill>
                  <a:srgbClr val="687365"/>
                </a:solidFill>
                <a:latin typeface="Liberation Sans"/>
              </a:defRPr>
            </a:pPr>
            <a:r>
              <a:t>GOAL 007 / LOCAL COMPONENTS / CURRENT PRACTICE EVIDENCE / HOSTED ACCEPTANCE PENDING</a:t>
            </a:r>
          </a:p>
        </p:txBody>
      </p:sp>
      <p:sp>
        <p:nvSpPr>
          <p:cNvPr id="7" name="TextBox 6"/>
          <p:cNvSpPr txBox="1"/>
          <p:nvPr/>
        </p:nvSpPr>
        <p:spPr>
          <a:xfrm>
            <a:off x="11274552" y="6510528"/>
            <a:ext cx="457200" cy="237744"/>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02</a:t>
            </a:r>
          </a:p>
        </p:txBody>
      </p:sp>
      <p:pic>
        <p:nvPicPr>
          <p:cNvPr id="8" name="Picture 7" descr="practice-gallery.png"/>
          <p:cNvPicPr>
            <a:picLocks noChangeAspect="1"/>
          </p:cNvPicPr>
          <p:nvPr/>
        </p:nvPicPr>
        <p:blipFill>
          <a:blip r:embed="rId3"/>
          <a:stretch>
            <a:fillRect/>
          </a:stretch>
        </p:blipFill>
        <p:spPr>
          <a:xfrm>
            <a:off x="502920" y="1737360"/>
            <a:ext cx="7863840" cy="4423410"/>
          </a:xfrm>
          <a:prstGeom prst="rect">
            <a:avLst/>
          </a:prstGeom>
        </p:spPr>
      </p:pic>
      <p:sp>
        <p:nvSpPr>
          <p:cNvPr id="9" name="TextBox 8"/>
          <p:cNvSpPr txBox="1"/>
          <p:nvPr/>
        </p:nvSpPr>
        <p:spPr>
          <a:xfrm>
            <a:off x="8750808" y="176479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Read the plan</a:t>
            </a:r>
          </a:p>
        </p:txBody>
      </p:sp>
      <p:sp>
        <p:nvSpPr>
          <p:cNvPr id="10" name="TextBox 9"/>
          <p:cNvSpPr txBox="1"/>
          <p:nvPr/>
        </p:nvSpPr>
        <p:spPr>
          <a:xfrm>
            <a:off x="8750808" y="224028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Your atlas shows connections. Pip reports what is nearby.</a:t>
            </a:r>
          </a:p>
        </p:txBody>
      </p:sp>
      <p:sp>
        <p:nvSpPr>
          <p:cNvPr id="11" name="TextBox 10"/>
          <p:cNvSpPr txBox="1"/>
          <p:nvPr/>
        </p:nvSpPr>
        <p:spPr>
          <a:xfrm>
            <a:off x="8750808" y="309067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Compare the evidence</a:t>
            </a:r>
          </a:p>
        </p:txBody>
      </p:sp>
      <p:sp>
        <p:nvSpPr>
          <p:cNvPr id="12" name="TextBox 11"/>
          <p:cNvSpPr txBox="1"/>
          <p:nvPr/>
        </p:nvSpPr>
        <p:spPr>
          <a:xfrm>
            <a:off x="8750808" y="356616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An open gate can still be blocked. Ask before committing.</a:t>
            </a:r>
          </a:p>
        </p:txBody>
      </p:sp>
      <p:sp>
        <p:nvSpPr>
          <p:cNvPr id="13" name="TextBox 12"/>
          <p:cNvSpPr txBox="1"/>
          <p:nvPr/>
        </p:nvSpPr>
        <p:spPr>
          <a:xfrm>
            <a:off x="8750808" y="441655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Revise together</a:t>
            </a:r>
          </a:p>
        </p:txBody>
      </p:sp>
      <p:sp>
        <p:nvSpPr>
          <p:cNvPr id="14" name="TextBox 13"/>
          <p:cNvSpPr txBox="1"/>
          <p:nvPr/>
        </p:nvSpPr>
        <p:spPr>
          <a:xfrm>
            <a:off x="8750808" y="489204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Choose another path and confirm the exact move.</a:t>
            </a:r>
          </a:p>
        </p:txBody>
      </p:sp>
      <p:sp>
        <p:nvSpPr>
          <p:cNvPr id="15" name="TextBox 14"/>
          <p:cNvSpPr txBox="1"/>
          <p:nvPr/>
        </p:nvSpPr>
        <p:spPr>
          <a:xfrm>
            <a:off x="640080" y="6208776"/>
            <a:ext cx="7589520" cy="173736"/>
          </a:xfrm>
          <a:prstGeom prst="rect">
            <a:avLst/>
          </a:prstGeom>
          <a:noFill/>
        </p:spPr>
        <p:txBody>
          <a:bodyPr wrap="square" lIns="0" rIns="0" tIns="0" bIns="0">
            <a:spAutoFit/>
          </a:bodyPr>
          <a:lstStyle/>
          <a:p>
            <a:pPr>
              <a:spcAft>
                <a:spcPts val="800"/>
              </a:spcAft>
              <a:defRPr sz="900" b="1">
                <a:solidFill>
                  <a:srgbClr val="58745D"/>
                </a:solidFill>
                <a:latin typeface="Liberation Sans"/>
              </a:defRPr>
            </a:pPr>
            <a:r>
              <a:t>CURRENT PRACTICE / player-marked route / no live location marker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438912" y="393192"/>
            <a:ext cx="429768" cy="32004"/>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74320"/>
            <a:ext cx="10058400" cy="274320"/>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CONVERSATION BECOMES A DECISION</a:t>
            </a:r>
          </a:p>
        </p:txBody>
      </p:sp>
      <p:sp>
        <p:nvSpPr>
          <p:cNvPr id="4" name="TextBox 3"/>
          <p:cNvSpPr txBox="1"/>
          <p:nvPr/>
        </p:nvSpPr>
        <p:spPr>
          <a:xfrm>
            <a:off x="502920" y="804672"/>
            <a:ext cx="11155680" cy="603504"/>
          </a:xfrm>
          <a:prstGeom prst="rect">
            <a:avLst/>
          </a:prstGeom>
          <a:noFill/>
        </p:spPr>
        <p:txBody>
          <a:bodyPr wrap="square" lIns="0" rIns="0" tIns="0" bIns="0">
            <a:spAutoFit/>
          </a:bodyPr>
          <a:lstStyle/>
          <a:p>
            <a:pPr>
              <a:spcAft>
                <a:spcPts val="800"/>
              </a:spcAft>
              <a:defRPr sz="3200" b="0">
                <a:solidFill>
                  <a:srgbClr val="24382F"/>
                </a:solidFill>
                <a:latin typeface="Liberation Serif"/>
              </a:defRPr>
            </a:pPr>
            <a:r>
              <a:t>Say it. Read it. Confirm it.</a:t>
            </a:r>
          </a:p>
        </p:txBody>
      </p:sp>
      <p:sp>
        <p:nvSpPr>
          <p:cNvPr id="5" name="Rectangle 4"/>
          <p:cNvSpPr/>
          <p:nvPr/>
        </p:nvSpPr>
        <p:spPr>
          <a:xfrm>
            <a:off x="502920" y="6419088"/>
            <a:ext cx="11183112" cy="10972"/>
          </a:xfrm>
          <a:prstGeom prst="rect">
            <a:avLst/>
          </a:prstGeom>
          <a:solidFill>
            <a:srgbClr val="CCD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182880"/>
          </a:xfrm>
          <a:prstGeom prst="rect">
            <a:avLst/>
          </a:prstGeom>
          <a:noFill/>
        </p:spPr>
        <p:txBody>
          <a:bodyPr wrap="square" lIns="0" rIns="0" tIns="0" bIns="0">
            <a:spAutoFit/>
          </a:bodyPr>
          <a:lstStyle/>
          <a:p>
            <a:pPr>
              <a:spcAft>
                <a:spcPts val="800"/>
              </a:spcAft>
              <a:defRPr sz="800" b="0">
                <a:solidFill>
                  <a:srgbClr val="687365"/>
                </a:solidFill>
                <a:latin typeface="Liberation Sans"/>
              </a:defRPr>
            </a:pPr>
            <a:r>
              <a:t>GOAL 007 / LOCAL COMPONENTS / CURRENT PRACTICE EVIDENCE / HOSTED ACCEPTANCE PENDING</a:t>
            </a:r>
          </a:p>
        </p:txBody>
      </p:sp>
      <p:sp>
        <p:nvSpPr>
          <p:cNvPr id="7" name="TextBox 6"/>
          <p:cNvSpPr txBox="1"/>
          <p:nvPr/>
        </p:nvSpPr>
        <p:spPr>
          <a:xfrm>
            <a:off x="11274552" y="6510528"/>
            <a:ext cx="457200" cy="237744"/>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03</a:t>
            </a:r>
          </a:p>
        </p:txBody>
      </p:sp>
      <p:pic>
        <p:nvPicPr>
          <p:cNvPr id="8" name="Picture 7" descr="practice-cargo.png"/>
          <p:cNvPicPr>
            <a:picLocks noChangeAspect="1"/>
          </p:cNvPicPr>
          <p:nvPr/>
        </p:nvPicPr>
        <p:blipFill>
          <a:blip r:embed="rId3"/>
          <a:srcRect l="59323" t="16019" r="8750" b="31944"/>
          <a:stretch>
            <a:fillRect/>
          </a:stretch>
        </p:blipFill>
        <p:spPr>
          <a:xfrm>
            <a:off x="502920" y="1737360"/>
            <a:ext cx="4178808" cy="3831336"/>
          </a:xfrm>
          <a:prstGeom prst="rect">
            <a:avLst/>
          </a:prstGeom>
        </p:spPr>
      </p:pic>
      <p:sp>
        <p:nvSpPr>
          <p:cNvPr id="9" name="TextBox 8"/>
          <p:cNvSpPr txBox="1"/>
          <p:nvPr/>
        </p:nvSpPr>
        <p:spPr>
          <a:xfrm>
            <a:off x="4983480" y="1773936"/>
            <a:ext cx="6172200" cy="685800"/>
          </a:xfrm>
          <a:prstGeom prst="rect">
            <a:avLst/>
          </a:prstGeom>
          <a:noFill/>
        </p:spPr>
        <p:txBody>
          <a:bodyPr wrap="square" lIns="0" rIns="0" tIns="0" bIns="0">
            <a:spAutoFit/>
          </a:bodyPr>
          <a:lstStyle/>
          <a:p>
            <a:pPr>
              <a:spcAft>
                <a:spcPts val="800"/>
              </a:spcAft>
              <a:defRPr sz="2300" b="1">
                <a:solidFill>
                  <a:srgbClr val="24382F"/>
                </a:solidFill>
                <a:latin typeface="Liberation Sans"/>
              </a:defRPr>
            </a:pPr>
            <a:r>
              <a:t>Pip proposes a physical action.</a:t>
            </a:r>
          </a:p>
          <a:p>
            <a:pPr>
              <a:spcAft>
                <a:spcPts val="800"/>
              </a:spcAft>
              <a:defRPr sz="2300" b="1">
                <a:solidFill>
                  <a:srgbClr val="24382F"/>
                </a:solidFill>
                <a:latin typeface="Liberation Sans"/>
              </a:defRPr>
            </a:pPr>
            <a:r>
              <a:t>You choose whether it happens.</a:t>
            </a:r>
          </a:p>
        </p:txBody>
      </p:sp>
      <p:sp>
        <p:nvSpPr>
          <p:cNvPr id="10" name="TextBox 9"/>
          <p:cNvSpPr txBox="1"/>
          <p:nvPr/>
        </p:nvSpPr>
        <p:spPr>
          <a:xfrm>
            <a:off x="4983480" y="2761488"/>
            <a:ext cx="6117336" cy="640080"/>
          </a:xfrm>
          <a:prstGeom prst="rect">
            <a:avLst/>
          </a:prstGeom>
          <a:noFill/>
        </p:spPr>
        <p:txBody>
          <a:bodyPr wrap="square" lIns="0" rIns="0" tIns="0" bIns="0">
            <a:spAutoFit/>
          </a:bodyPr>
          <a:lstStyle/>
          <a:p>
            <a:pPr>
              <a:spcAft>
                <a:spcPts val="800"/>
              </a:spcAft>
              <a:defRPr sz="1800" b="0">
                <a:solidFill>
                  <a:srgbClr val="687365"/>
                </a:solidFill>
                <a:latin typeface="Liberation Sans"/>
              </a:defRPr>
            </a:pPr>
            <a:r>
              <a:t>A spoken yes is not a console confirmation. The server checks the current state again when you confirm.</a:t>
            </a:r>
          </a:p>
        </p:txBody>
      </p:sp>
      <p:pic>
        <p:nvPicPr>
          <p:cNvPr id="11" name="Picture 10" descr="practice-dock.png"/>
          <p:cNvPicPr>
            <a:picLocks noChangeAspect="1"/>
          </p:cNvPicPr>
          <p:nvPr/>
        </p:nvPicPr>
        <p:blipFill>
          <a:blip r:embed="rId4"/>
          <a:srcRect l="8750" t="15926" r="41875" b="61667"/>
          <a:stretch>
            <a:fillRect/>
          </a:stretch>
        </p:blipFill>
        <p:spPr>
          <a:xfrm>
            <a:off x="4983480" y="3703320"/>
            <a:ext cx="6099048" cy="1554480"/>
          </a:xfrm>
          <a:prstGeom prst="rect">
            <a:avLst/>
          </a:prstGeom>
        </p:spPr>
      </p:pic>
      <p:sp>
        <p:nvSpPr>
          <p:cNvPr id="12" name="TextBox 11"/>
          <p:cNvSpPr txBox="1"/>
          <p:nvPr/>
        </p:nvSpPr>
        <p:spPr>
          <a:xfrm>
            <a:off x="4983480" y="5468112"/>
            <a:ext cx="6172200" cy="594360"/>
          </a:xfrm>
          <a:prstGeom prst="rect">
            <a:avLst/>
          </a:prstGeom>
          <a:noFill/>
        </p:spPr>
        <p:txBody>
          <a:bodyPr wrap="square" lIns="0" rIns="0" tIns="0" bIns="0">
            <a:spAutoFit/>
          </a:bodyPr>
          <a:lstStyle/>
          <a:p>
            <a:pPr>
              <a:spcAft>
                <a:spcPts val="800"/>
              </a:spcAft>
              <a:defRPr sz="1700" b="0">
                <a:solidFill>
                  <a:srgbClr val="24382F"/>
                </a:solidFill>
                <a:latin typeface="Liberation Sans"/>
              </a:defRPr>
            </a:pPr>
            <a:r>
              <a:t>At the Dock, Pip holds the contact while you charge and store energy. Returning still needs a separate grant.</a:t>
            </a:r>
          </a:p>
        </p:txBody>
      </p:sp>
      <p:sp>
        <p:nvSpPr>
          <p:cNvPr id="13" name="TextBox 12"/>
          <p:cNvSpPr txBox="1"/>
          <p:nvPr/>
        </p:nvSpPr>
        <p:spPr>
          <a:xfrm>
            <a:off x="621792" y="6144768"/>
            <a:ext cx="10515600" cy="173736"/>
          </a:xfrm>
          <a:prstGeom prst="rect">
            <a:avLst/>
          </a:prstGeom>
          <a:noFill/>
        </p:spPr>
        <p:txBody>
          <a:bodyPr wrap="square" lIns="0" rIns="0" tIns="0" bIns="0">
            <a:spAutoFit/>
          </a:bodyPr>
          <a:lstStyle/>
          <a:p>
            <a:pPr>
              <a:spcAft>
                <a:spcPts val="800"/>
              </a:spcAft>
              <a:defRPr sz="900" b="1">
                <a:solidFill>
                  <a:srgbClr val="58745D"/>
                </a:solidFill>
                <a:latin typeface="Liberation Sans"/>
              </a:defRPr>
            </a:pPr>
            <a:r>
              <a:t>CURRENT PRACTICE / exact pending proposal at left / acknowledged Dock instruments at right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438912" y="393192"/>
            <a:ext cx="429768" cy="32004"/>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74320"/>
            <a:ext cx="10058400" cy="274320"/>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THE OPTIONAL FLIGHT RECORDER</a:t>
            </a:r>
          </a:p>
        </p:txBody>
      </p:sp>
      <p:sp>
        <p:nvSpPr>
          <p:cNvPr id="4" name="TextBox 3"/>
          <p:cNvSpPr txBox="1"/>
          <p:nvPr/>
        </p:nvSpPr>
        <p:spPr>
          <a:xfrm>
            <a:off x="502920" y="804672"/>
            <a:ext cx="11155680" cy="603504"/>
          </a:xfrm>
          <a:prstGeom prst="rect">
            <a:avLst/>
          </a:prstGeom>
          <a:noFill/>
        </p:spPr>
        <p:txBody>
          <a:bodyPr wrap="square" lIns="0" rIns="0" tIns="0" bIns="0">
            <a:spAutoFit/>
          </a:bodyPr>
          <a:lstStyle/>
          <a:p>
            <a:pPr>
              <a:spcAft>
                <a:spcPts val="800"/>
              </a:spcAft>
              <a:defRPr sz="3200" b="0">
                <a:solidFill>
                  <a:srgbClr val="24382F"/>
                </a:solidFill>
                <a:latin typeface="Liberation Serif"/>
              </a:defRPr>
            </a:pPr>
            <a:r>
              <a:t>A small memory can come home too.</a:t>
            </a:r>
          </a:p>
        </p:txBody>
      </p:sp>
      <p:sp>
        <p:nvSpPr>
          <p:cNvPr id="5" name="Rectangle 4"/>
          <p:cNvSpPr/>
          <p:nvPr/>
        </p:nvSpPr>
        <p:spPr>
          <a:xfrm>
            <a:off x="502920" y="6419088"/>
            <a:ext cx="11183112" cy="10972"/>
          </a:xfrm>
          <a:prstGeom prst="rect">
            <a:avLst/>
          </a:prstGeom>
          <a:solidFill>
            <a:srgbClr val="CCD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182880"/>
          </a:xfrm>
          <a:prstGeom prst="rect">
            <a:avLst/>
          </a:prstGeom>
          <a:noFill/>
        </p:spPr>
        <p:txBody>
          <a:bodyPr wrap="square" lIns="0" rIns="0" tIns="0" bIns="0">
            <a:spAutoFit/>
          </a:bodyPr>
          <a:lstStyle/>
          <a:p>
            <a:pPr>
              <a:spcAft>
                <a:spcPts val="800"/>
              </a:spcAft>
              <a:defRPr sz="800" b="0">
                <a:solidFill>
                  <a:srgbClr val="687365"/>
                </a:solidFill>
                <a:latin typeface="Liberation Sans"/>
              </a:defRPr>
            </a:pPr>
            <a:r>
              <a:t>GOAL 007 / LOCAL COMPONENTS / CURRENT PRACTICE EVIDENCE / HOSTED ACCEPTANCE PENDING</a:t>
            </a:r>
          </a:p>
        </p:txBody>
      </p:sp>
      <p:sp>
        <p:nvSpPr>
          <p:cNvPr id="7" name="TextBox 6"/>
          <p:cNvSpPr txBox="1"/>
          <p:nvPr/>
        </p:nvSpPr>
        <p:spPr>
          <a:xfrm>
            <a:off x="11274552" y="6510528"/>
            <a:ext cx="457200" cy="237744"/>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04</a:t>
            </a:r>
          </a:p>
        </p:txBody>
      </p:sp>
      <p:pic>
        <p:nvPicPr>
          <p:cNvPr id="8" name="Picture 7" descr="practice-home.png"/>
          <p:cNvPicPr>
            <a:picLocks noChangeAspect="1"/>
          </p:cNvPicPr>
          <p:nvPr/>
        </p:nvPicPr>
        <p:blipFill>
          <a:blip r:embed="rId3"/>
          <a:stretch>
            <a:fillRect/>
          </a:stretch>
        </p:blipFill>
        <p:spPr>
          <a:xfrm>
            <a:off x="502920" y="1737360"/>
            <a:ext cx="7863840" cy="4423410"/>
          </a:xfrm>
          <a:prstGeom prst="rect">
            <a:avLst/>
          </a:prstGeom>
        </p:spPr>
      </p:pic>
      <p:sp>
        <p:nvSpPr>
          <p:cNvPr id="9" name="TextBox 8"/>
          <p:cNvSpPr txBox="1"/>
          <p:nvPr/>
        </p:nvSpPr>
        <p:spPr>
          <a:xfrm>
            <a:off x="8750808" y="176479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Choose the detour</a:t>
            </a:r>
          </a:p>
        </p:txBody>
      </p:sp>
      <p:sp>
        <p:nvSpPr>
          <p:cNvPr id="10" name="TextBox 9"/>
          <p:cNvSpPr txBox="1"/>
          <p:nvPr/>
        </p:nvSpPr>
        <p:spPr>
          <a:xfrm>
            <a:off x="8750808" y="224028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The Leaf archive is optional. A direct rescue is complete too.</a:t>
            </a:r>
          </a:p>
        </p:txBody>
      </p:sp>
      <p:sp>
        <p:nvSpPr>
          <p:cNvPr id="11" name="TextBox 10"/>
          <p:cNvSpPr txBox="1"/>
          <p:nvPr/>
        </p:nvSpPr>
        <p:spPr>
          <a:xfrm>
            <a:off x="8750808" y="309067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Ask about the case</a:t>
            </a:r>
          </a:p>
        </p:txBody>
      </p:sp>
      <p:sp>
        <p:nvSpPr>
          <p:cNvPr id="12" name="TextBox 11"/>
          <p:cNvSpPr txBox="1"/>
          <p:nvPr/>
        </p:nvSpPr>
        <p:spPr>
          <a:xfrm>
            <a:off x="8750808" y="356616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A worn label and faded star give the object a local story.</a:t>
            </a:r>
          </a:p>
        </p:txBody>
      </p:sp>
      <p:sp>
        <p:nvSpPr>
          <p:cNvPr id="13" name="TextBox 12"/>
          <p:cNvSpPr txBox="1"/>
          <p:nvPr/>
        </p:nvSpPr>
        <p:spPr>
          <a:xfrm>
            <a:off x="8750808" y="4416552"/>
            <a:ext cx="2743200" cy="365760"/>
          </a:xfrm>
          <a:prstGeom prst="rect">
            <a:avLst/>
          </a:prstGeom>
          <a:noFill/>
        </p:spPr>
        <p:txBody>
          <a:bodyPr wrap="square" lIns="0" rIns="0" tIns="0" bIns="0">
            <a:spAutoFit/>
          </a:bodyPr>
          <a:lstStyle/>
          <a:p>
            <a:pPr>
              <a:spcAft>
                <a:spcPts val="800"/>
              </a:spcAft>
              <a:defRPr sz="1800" b="1">
                <a:solidFill>
                  <a:srgbClr val="24382F"/>
                </a:solidFill>
                <a:latin typeface="Liberation Sans"/>
              </a:defRPr>
            </a:pPr>
            <a:r>
              <a:t>Give it a place</a:t>
            </a:r>
          </a:p>
        </p:txBody>
      </p:sp>
      <p:sp>
        <p:nvSpPr>
          <p:cNvPr id="14" name="TextBox 13"/>
          <p:cNvSpPr txBox="1"/>
          <p:nvPr/>
        </p:nvSpPr>
        <p:spPr>
          <a:xfrm>
            <a:off x="8750808" y="4892040"/>
            <a:ext cx="2743200" cy="822960"/>
          </a:xfrm>
          <a:prstGeom prst="rect">
            <a:avLst/>
          </a:prstGeom>
          <a:noFill/>
        </p:spPr>
        <p:txBody>
          <a:bodyPr wrap="square" lIns="0" rIns="0" tIns="0" bIns="0">
            <a:spAutoFit/>
          </a:bodyPr>
          <a:lstStyle/>
          <a:p>
            <a:pPr>
              <a:spcAft>
                <a:spcPts val="800"/>
              </a:spcAft>
              <a:defRPr sz="1600" b="0">
                <a:solidFill>
                  <a:srgbClr val="687365"/>
                </a:solidFill>
                <a:latin typeface="Liberation Sans"/>
              </a:defRPr>
            </a:pPr>
            <a:r>
              <a:t>After a confirmed pickup and return, the case appears beside Pip.</a:t>
            </a:r>
          </a:p>
        </p:txBody>
      </p:sp>
      <p:sp>
        <p:nvSpPr>
          <p:cNvPr id="15" name="TextBox 14"/>
          <p:cNvSpPr txBox="1"/>
          <p:nvPr/>
        </p:nvSpPr>
        <p:spPr>
          <a:xfrm>
            <a:off x="640080" y="6208776"/>
            <a:ext cx="7589520" cy="173736"/>
          </a:xfrm>
          <a:prstGeom prst="rect">
            <a:avLst/>
          </a:prstGeom>
          <a:noFill/>
        </p:spPr>
        <p:txBody>
          <a:bodyPr wrap="square" lIns="0" rIns="0" tIns="0" bIns="0">
            <a:spAutoFit/>
          </a:bodyPr>
          <a:lstStyle/>
          <a:p>
            <a:pPr>
              <a:spcAft>
                <a:spcPts val="800"/>
              </a:spcAft>
              <a:defRPr sz="900" b="1">
                <a:solidFill>
                  <a:srgbClr val="58745D"/>
                </a:solidFill>
                <a:latin typeface="Liberation Sans"/>
              </a:defRPr>
            </a:pPr>
            <a:r>
              <a:t>CURRENT PRACTICE / confirmed home / optional recorder secured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438912" y="393192"/>
            <a:ext cx="429768" cy="32004"/>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74320"/>
            <a:ext cx="10058400" cy="274320"/>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HOW THE SYSTEM WORKS</a:t>
            </a:r>
          </a:p>
        </p:txBody>
      </p:sp>
      <p:sp>
        <p:nvSpPr>
          <p:cNvPr id="4" name="TextBox 3"/>
          <p:cNvSpPr txBox="1"/>
          <p:nvPr/>
        </p:nvSpPr>
        <p:spPr>
          <a:xfrm>
            <a:off x="502920" y="804672"/>
            <a:ext cx="11155680" cy="603504"/>
          </a:xfrm>
          <a:prstGeom prst="rect">
            <a:avLst/>
          </a:prstGeom>
          <a:noFill/>
        </p:spPr>
        <p:txBody>
          <a:bodyPr wrap="square" lIns="0" rIns="0" tIns="0" bIns="0">
            <a:spAutoFit/>
          </a:bodyPr>
          <a:lstStyle/>
          <a:p>
            <a:pPr>
              <a:spcAft>
                <a:spcPts val="800"/>
              </a:spcAft>
              <a:defRPr sz="3200" b="0">
                <a:solidFill>
                  <a:srgbClr val="24382F"/>
                </a:solidFill>
                <a:latin typeface="Liberation Serif"/>
              </a:defRPr>
            </a:pPr>
            <a:r>
              <a:t>A conversation. A guarded action.</a:t>
            </a:r>
          </a:p>
        </p:txBody>
      </p:sp>
      <p:sp>
        <p:nvSpPr>
          <p:cNvPr id="5" name="Rectangle 4"/>
          <p:cNvSpPr/>
          <p:nvPr/>
        </p:nvSpPr>
        <p:spPr>
          <a:xfrm>
            <a:off x="502920" y="6419088"/>
            <a:ext cx="11183112" cy="10972"/>
          </a:xfrm>
          <a:prstGeom prst="rect">
            <a:avLst/>
          </a:prstGeom>
          <a:solidFill>
            <a:srgbClr val="CCD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182880"/>
          </a:xfrm>
          <a:prstGeom prst="rect">
            <a:avLst/>
          </a:prstGeom>
          <a:noFill/>
        </p:spPr>
        <p:txBody>
          <a:bodyPr wrap="square" lIns="0" rIns="0" tIns="0" bIns="0">
            <a:spAutoFit/>
          </a:bodyPr>
          <a:lstStyle/>
          <a:p>
            <a:pPr>
              <a:spcAft>
                <a:spcPts val="800"/>
              </a:spcAft>
              <a:defRPr sz="800" b="0">
                <a:solidFill>
                  <a:srgbClr val="687365"/>
                </a:solidFill>
                <a:latin typeface="Liberation Sans"/>
              </a:defRPr>
            </a:pPr>
            <a:r>
              <a:t>GOAL 007 / LOCAL COMPONENTS / CURRENT PRACTICE EVIDENCE / HOSTED ACCEPTANCE PENDING</a:t>
            </a:r>
          </a:p>
        </p:txBody>
      </p:sp>
      <p:sp>
        <p:nvSpPr>
          <p:cNvPr id="7" name="TextBox 6"/>
          <p:cNvSpPr txBox="1"/>
          <p:nvPr/>
        </p:nvSpPr>
        <p:spPr>
          <a:xfrm>
            <a:off x="11274552" y="6510528"/>
            <a:ext cx="457200" cy="237744"/>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05</a:t>
            </a:r>
          </a:p>
        </p:txBody>
      </p:sp>
      <p:sp>
        <p:nvSpPr>
          <p:cNvPr id="8" name="Rounded Rectangle 7"/>
          <p:cNvSpPr/>
          <p:nvPr/>
        </p:nvSpPr>
        <p:spPr>
          <a:xfrm>
            <a:off x="594360" y="1847088"/>
            <a:ext cx="3383280" cy="2093976"/>
          </a:xfrm>
          <a:prstGeom prst="roundRect">
            <a:avLst/>
          </a:prstGeom>
          <a:solidFill>
            <a:srgbClr val="E2E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 y="2057400"/>
            <a:ext cx="2926080" cy="384048"/>
          </a:xfrm>
          <a:prstGeom prst="rect">
            <a:avLst/>
          </a:prstGeom>
          <a:noFill/>
        </p:spPr>
        <p:txBody>
          <a:bodyPr wrap="square" lIns="0" rIns="0" tIns="0" bIns="0">
            <a:spAutoFit/>
          </a:bodyPr>
          <a:lstStyle/>
          <a:p>
            <a:pPr>
              <a:spcAft>
                <a:spcPts val="800"/>
              </a:spcAft>
              <a:defRPr sz="1600" b="1">
                <a:solidFill>
                  <a:srgbClr val="24382F"/>
                </a:solidFill>
                <a:latin typeface="Liberation Sans"/>
              </a:defRPr>
            </a:pPr>
            <a:r>
              <a:t>HUMAN / BROWSER</a:t>
            </a:r>
          </a:p>
        </p:txBody>
      </p:sp>
      <p:sp>
        <p:nvSpPr>
          <p:cNvPr id="10" name="TextBox 9"/>
          <p:cNvSpPr txBox="1"/>
          <p:nvPr/>
        </p:nvSpPr>
        <p:spPr>
          <a:xfrm>
            <a:off x="813816" y="2670048"/>
            <a:ext cx="2880360" cy="1014984"/>
          </a:xfrm>
          <a:prstGeom prst="rect">
            <a:avLst/>
          </a:prstGeom>
          <a:noFill/>
        </p:spPr>
        <p:txBody>
          <a:bodyPr wrap="square" lIns="0" rIns="0" tIns="0" bIns="0">
            <a:spAutoFit/>
          </a:bodyPr>
          <a:lstStyle/>
          <a:p>
            <a:pPr>
              <a:spcAft>
                <a:spcPts val="800"/>
              </a:spcAft>
              <a:defRPr sz="1800" b="0">
                <a:solidFill>
                  <a:srgbClr val="24382F"/>
                </a:solidFill>
                <a:latin typeface="Liberation Sans"/>
              </a:defRPr>
            </a:pPr>
            <a:r>
              <a:t>Private documents</a:t>
            </a:r>
          </a:p>
          <a:p>
            <a:pPr>
              <a:spcAft>
                <a:spcPts val="800"/>
              </a:spcAft>
              <a:defRPr sz="1800" b="0">
                <a:solidFill>
                  <a:srgbClr val="24382F"/>
                </a:solidFill>
                <a:latin typeface="Liberation Sans"/>
              </a:defRPr>
            </a:pPr>
            <a:r>
              <a:t>Microphone + raw captions</a:t>
            </a:r>
          </a:p>
          <a:p>
            <a:pPr>
              <a:spcAft>
                <a:spcPts val="800"/>
              </a:spcAft>
              <a:defRPr sz="1800" b="0">
                <a:solidFill>
                  <a:srgbClr val="24382F"/>
                </a:solidFill>
                <a:latin typeface="Liberation Sans"/>
              </a:defRPr>
            </a:pPr>
            <a:r>
              <a:t>Controls + confirmation</a:t>
            </a:r>
          </a:p>
        </p:txBody>
      </p:sp>
      <p:sp>
        <p:nvSpPr>
          <p:cNvPr id="11" name="Rounded Rectangle 10"/>
          <p:cNvSpPr/>
          <p:nvPr/>
        </p:nvSpPr>
        <p:spPr>
          <a:xfrm>
            <a:off x="4416552" y="1847088"/>
            <a:ext cx="3346704" cy="2093976"/>
          </a:xfrm>
          <a:prstGeom prst="roundRect">
            <a:avLst/>
          </a:prstGeom>
          <a:solidFill>
            <a:srgbClr val="243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45152" y="2057400"/>
            <a:ext cx="2880360" cy="384048"/>
          </a:xfrm>
          <a:prstGeom prst="rect">
            <a:avLst/>
          </a:prstGeom>
          <a:noFill/>
        </p:spPr>
        <p:txBody>
          <a:bodyPr wrap="square" lIns="0" rIns="0" tIns="0" bIns="0">
            <a:spAutoFit/>
          </a:bodyPr>
          <a:lstStyle/>
          <a:p>
            <a:pPr>
              <a:spcAft>
                <a:spcPts val="800"/>
              </a:spcAft>
              <a:defRPr sz="1600" b="1">
                <a:solidFill>
                  <a:srgbClr val="F4EFE2"/>
                </a:solidFill>
                <a:latin typeface="Liberation Sans"/>
              </a:defRPr>
            </a:pPr>
            <a:r>
              <a:t>ASSEMBLYAI / PIP</a:t>
            </a:r>
          </a:p>
        </p:txBody>
      </p:sp>
      <p:sp>
        <p:nvSpPr>
          <p:cNvPr id="13" name="TextBox 12"/>
          <p:cNvSpPr txBox="1"/>
          <p:nvPr/>
        </p:nvSpPr>
        <p:spPr>
          <a:xfrm>
            <a:off x="4645152" y="2670048"/>
            <a:ext cx="2880360" cy="1014984"/>
          </a:xfrm>
          <a:prstGeom prst="rect">
            <a:avLst/>
          </a:prstGeom>
          <a:noFill/>
        </p:spPr>
        <p:txBody>
          <a:bodyPr wrap="square" lIns="0" rIns="0" tIns="0" bIns="0">
            <a:spAutoFit/>
          </a:bodyPr>
          <a:lstStyle/>
          <a:p>
            <a:pPr>
              <a:spcAft>
                <a:spcPts val="800"/>
              </a:spcAft>
              <a:defRPr sz="1800" b="0">
                <a:solidFill>
                  <a:srgbClr val="F4EFE2"/>
                </a:solidFill>
                <a:latin typeface="Liberation Sans"/>
              </a:defRPr>
            </a:pPr>
            <a:r>
              <a:t>Speech + conversation</a:t>
            </a:r>
          </a:p>
          <a:p>
            <a:pPr>
              <a:spcAft>
                <a:spcPts val="800"/>
              </a:spcAft>
              <a:defRPr sz="1800" b="0">
                <a:solidFill>
                  <a:srgbClr val="F4EFE2"/>
                </a:solidFill>
                <a:latin typeface="Liberation Sans"/>
              </a:defRPr>
            </a:pPr>
            <a:r>
              <a:t>Local tool requests</a:t>
            </a:r>
          </a:p>
          <a:p>
            <a:pPr>
              <a:spcAft>
                <a:spcPts val="800"/>
              </a:spcAft>
              <a:defRPr sz="1800" b="0">
                <a:solidFill>
                  <a:srgbClr val="F4EFE2"/>
                </a:solidFill>
                <a:latin typeface="Liberation Sans"/>
              </a:defRPr>
            </a:pPr>
            <a:r>
              <a:t>Reply audio to browser</a:t>
            </a:r>
          </a:p>
        </p:txBody>
      </p:sp>
      <p:sp>
        <p:nvSpPr>
          <p:cNvPr id="14" name="Rounded Rectangle 13"/>
          <p:cNvSpPr/>
          <p:nvPr/>
        </p:nvSpPr>
        <p:spPr>
          <a:xfrm>
            <a:off x="8229600" y="1847088"/>
            <a:ext cx="3364992" cy="2093976"/>
          </a:xfrm>
          <a:prstGeom prst="roundRect">
            <a:avLst/>
          </a:prstGeom>
          <a:solidFill>
            <a:srgbClr val="E2E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49056" y="2057400"/>
            <a:ext cx="2907792" cy="384048"/>
          </a:xfrm>
          <a:prstGeom prst="rect">
            <a:avLst/>
          </a:prstGeom>
          <a:noFill/>
        </p:spPr>
        <p:txBody>
          <a:bodyPr wrap="square" lIns="0" rIns="0" tIns="0" bIns="0">
            <a:spAutoFit/>
          </a:bodyPr>
          <a:lstStyle/>
          <a:p>
            <a:pPr>
              <a:spcAft>
                <a:spcPts val="800"/>
              </a:spcAft>
              <a:defRPr sz="1600" b="1">
                <a:solidFill>
                  <a:srgbClr val="24382F"/>
                </a:solidFill>
                <a:latin typeface="Liberation Sans"/>
              </a:defRPr>
            </a:pPr>
            <a:r>
              <a:t>GAME SERVER</a:t>
            </a:r>
          </a:p>
        </p:txBody>
      </p:sp>
      <p:sp>
        <p:nvSpPr>
          <p:cNvPr id="16" name="TextBox 15"/>
          <p:cNvSpPr txBox="1"/>
          <p:nvPr/>
        </p:nvSpPr>
        <p:spPr>
          <a:xfrm>
            <a:off x="8449056" y="2670048"/>
            <a:ext cx="2834640" cy="1014984"/>
          </a:xfrm>
          <a:prstGeom prst="rect">
            <a:avLst/>
          </a:prstGeom>
          <a:noFill/>
        </p:spPr>
        <p:txBody>
          <a:bodyPr wrap="square" lIns="0" rIns="0" tIns="0" bIns="0">
            <a:spAutoFit/>
          </a:bodyPr>
          <a:lstStyle/>
          <a:p>
            <a:pPr>
              <a:spcAft>
                <a:spcPts val="800"/>
              </a:spcAft>
              <a:defRPr sz="1800" b="0">
                <a:solidFill>
                  <a:srgbClr val="24382F"/>
                </a:solidFill>
                <a:latin typeface="Liberation Sans"/>
              </a:defRPr>
            </a:pPr>
            <a:r>
              <a:t>Mission state authority</a:t>
            </a:r>
          </a:p>
          <a:p>
            <a:pPr>
              <a:spcAft>
                <a:spcPts val="800"/>
              </a:spcAft>
              <a:defRPr sz="1800" b="0">
                <a:solidFill>
                  <a:srgbClr val="24382F"/>
                </a:solidFill>
                <a:latin typeface="Liberation Sans"/>
              </a:defRPr>
            </a:pPr>
            <a:r>
              <a:t>Proposal validation</a:t>
            </a:r>
          </a:p>
          <a:p>
            <a:pPr>
              <a:spcAft>
                <a:spcPts val="800"/>
              </a:spcAft>
              <a:defRPr sz="1800" b="0">
                <a:solidFill>
                  <a:srgbClr val="24382F"/>
                </a:solidFill>
                <a:latin typeface="Liberation Sans"/>
              </a:defRPr>
            </a:pPr>
            <a:r>
              <a:t>Confirmed physical commit</a:t>
            </a:r>
          </a:p>
        </p:txBody>
      </p:sp>
      <p:sp>
        <p:nvSpPr>
          <p:cNvPr id="17" name="TextBox 16"/>
          <p:cNvSpPr txBox="1"/>
          <p:nvPr/>
        </p:nvSpPr>
        <p:spPr>
          <a:xfrm>
            <a:off x="4014215" y="2587752"/>
            <a:ext cx="411480" cy="548640"/>
          </a:xfrm>
          <a:prstGeom prst="rect">
            <a:avLst/>
          </a:prstGeom>
          <a:noFill/>
        </p:spPr>
        <p:txBody>
          <a:bodyPr wrap="square" lIns="0" rIns="0" tIns="0" bIns="0">
            <a:spAutoFit/>
          </a:bodyPr>
          <a:lstStyle/>
          <a:p>
            <a:pPr>
              <a:spcAft>
                <a:spcPts val="800"/>
              </a:spcAft>
              <a:defRPr sz="2600" b="1">
                <a:solidFill>
                  <a:srgbClr val="58745D"/>
                </a:solidFill>
                <a:latin typeface="Liberation Sans"/>
              </a:defRPr>
            </a:pPr>
            <a:r>
              <a:t>↔</a:t>
            </a:r>
          </a:p>
        </p:txBody>
      </p:sp>
      <p:sp>
        <p:nvSpPr>
          <p:cNvPr id="18" name="TextBox 17"/>
          <p:cNvSpPr txBox="1"/>
          <p:nvPr/>
        </p:nvSpPr>
        <p:spPr>
          <a:xfrm>
            <a:off x="7808975" y="2587752"/>
            <a:ext cx="411480" cy="548640"/>
          </a:xfrm>
          <a:prstGeom prst="rect">
            <a:avLst/>
          </a:prstGeom>
          <a:noFill/>
        </p:spPr>
        <p:txBody>
          <a:bodyPr wrap="square" lIns="0" rIns="0" tIns="0" bIns="0">
            <a:spAutoFit/>
          </a:bodyPr>
          <a:lstStyle/>
          <a:p>
            <a:pPr>
              <a:spcAft>
                <a:spcPts val="800"/>
              </a:spcAft>
              <a:defRPr sz="2600" b="1">
                <a:solidFill>
                  <a:srgbClr val="58745D"/>
                </a:solidFill>
                <a:latin typeface="Liberation Sans"/>
              </a:defRPr>
            </a:pPr>
            <a:r>
              <a:t>↔</a:t>
            </a:r>
          </a:p>
        </p:txBody>
      </p:sp>
      <p:sp>
        <p:nvSpPr>
          <p:cNvPr id="19" name="Rectangle 18"/>
          <p:cNvSpPr/>
          <p:nvPr/>
        </p:nvSpPr>
        <p:spPr>
          <a:xfrm>
            <a:off x="594360" y="4334256"/>
            <a:ext cx="11000232" cy="621792"/>
          </a:xfrm>
          <a:prstGeom prst="rect">
            <a:avLst/>
          </a:prstGeom>
          <a:solidFill>
            <a:srgbClr val="E9DF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4517136"/>
            <a:ext cx="10588752" cy="274320"/>
          </a:xfrm>
          <a:prstGeom prst="rect">
            <a:avLst/>
          </a:prstGeom>
          <a:noFill/>
        </p:spPr>
        <p:txBody>
          <a:bodyPr wrap="square" lIns="0" rIns="0" tIns="0" bIns="0">
            <a:spAutoFit/>
          </a:bodyPr>
          <a:lstStyle/>
          <a:p>
            <a:pPr>
              <a:spcAft>
                <a:spcPts val="800"/>
              </a:spcAft>
              <a:defRPr sz="1900" b="1">
                <a:solidFill>
                  <a:srgbClr val="24382F"/>
                </a:solidFill>
                <a:latin typeface="Liberation Sans"/>
              </a:defRPr>
            </a:pPr>
            <a:r>
              <a:t>Observe → share a clue → propose → exact human confirmation → validate → act</a:t>
            </a:r>
          </a:p>
        </p:txBody>
      </p:sp>
      <p:sp>
        <p:nvSpPr>
          <p:cNvPr id="21" name="TextBox 20"/>
          <p:cNvSpPr txBox="1"/>
          <p:nvPr/>
        </p:nvSpPr>
        <p:spPr>
          <a:xfrm>
            <a:off x="795528" y="5266944"/>
            <a:ext cx="4910328" cy="649224"/>
          </a:xfrm>
          <a:prstGeom prst="rect">
            <a:avLst/>
          </a:prstGeom>
          <a:noFill/>
        </p:spPr>
        <p:txBody>
          <a:bodyPr wrap="square" lIns="0" rIns="0" tIns="0" bIns="0">
            <a:spAutoFit/>
          </a:bodyPr>
          <a:lstStyle/>
          <a:p>
            <a:pPr>
              <a:spcAft>
                <a:spcPts val="800"/>
              </a:spcAft>
              <a:defRPr sz="1800" b="0">
                <a:solidFill>
                  <a:srgbClr val="24382F"/>
                </a:solidFill>
                <a:latin typeface="Liberation Sans"/>
              </a:defRPr>
            </a:pPr>
            <a:r>
              <a:t>Separate knowledge</a:t>
            </a:r>
          </a:p>
          <a:p>
            <a:pPr>
              <a:spcAft>
                <a:spcPts val="800"/>
              </a:spcAft>
              <a:defRPr sz="1800" b="0">
                <a:solidFill>
                  <a:srgbClr val="24382F"/>
                </a:solidFill>
                <a:latin typeface="Liberation Sans"/>
              </a:defRPr>
            </a:pPr>
            <a:r>
              <a:t>Private map marks stay with the human.</a:t>
            </a:r>
          </a:p>
        </p:txBody>
      </p:sp>
      <p:sp>
        <p:nvSpPr>
          <p:cNvPr id="22" name="TextBox 21"/>
          <p:cNvSpPr txBox="1"/>
          <p:nvPr/>
        </p:nvSpPr>
        <p:spPr>
          <a:xfrm>
            <a:off x="6464808" y="5266944"/>
            <a:ext cx="4800600" cy="649224"/>
          </a:xfrm>
          <a:prstGeom prst="rect">
            <a:avLst/>
          </a:prstGeom>
          <a:noFill/>
        </p:spPr>
        <p:txBody>
          <a:bodyPr wrap="square" lIns="0" rIns="0" tIns="0" bIns="0">
            <a:spAutoFit/>
          </a:bodyPr>
          <a:lstStyle/>
          <a:p>
            <a:pPr>
              <a:spcAft>
                <a:spcPts val="800"/>
              </a:spcAft>
              <a:defRPr sz="1800" b="0">
                <a:solidFill>
                  <a:srgbClr val="24382F"/>
                </a:solidFill>
                <a:latin typeface="Liberation Sans"/>
              </a:defRPr>
            </a:pPr>
            <a:r>
              <a:t>Separate authority</a:t>
            </a:r>
          </a:p>
          <a:p>
            <a:pPr>
              <a:spcAft>
                <a:spcPts val="800"/>
              </a:spcAft>
              <a:defRPr sz="1800" b="0">
                <a:solidFill>
                  <a:srgbClr val="24382F"/>
                </a:solidFill>
                <a:latin typeface="Liberation Sans"/>
              </a:defRPr>
            </a:pPr>
            <a:r>
              <a:t>Conversation alone cannot commit an action.</a:t>
            </a:r>
          </a:p>
        </p:txBody>
      </p:sp>
      <p:sp>
        <p:nvSpPr>
          <p:cNvPr id="23" name="TextBox 22"/>
          <p:cNvSpPr txBox="1"/>
          <p:nvPr/>
        </p:nvSpPr>
        <p:spPr>
          <a:xfrm>
            <a:off x="804672" y="6053328"/>
            <a:ext cx="10789920" cy="201168"/>
          </a:xfrm>
          <a:prstGeom prst="rect">
            <a:avLst/>
          </a:prstGeom>
          <a:noFill/>
        </p:spPr>
        <p:txBody>
          <a:bodyPr wrap="square" lIns="0" rIns="0" tIns="0" bIns="0">
            <a:spAutoFit/>
          </a:bodyPr>
          <a:lstStyle/>
          <a:p>
            <a:pPr>
              <a:spcAft>
                <a:spcPts val="800"/>
              </a:spcAft>
              <a:defRPr sz="1200" b="0">
                <a:solidFill>
                  <a:srgbClr val="687365"/>
                </a:solidFill>
                <a:latin typeface="Liberation Sans"/>
              </a:defRPr>
            </a:pPr>
            <a:r>
              <a:t>TypeScript · Node.js 24 · React · Vite · Web Audio · Playwright / tool requests are routed through the browser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2"/>
        </a:solidFill>
        <a:effectLst/>
      </p:bgPr>
    </p:bg>
    <p:spTree>
      <p:nvGrpSpPr>
        <p:cNvPr id="1" name=""/>
        <p:cNvGrpSpPr/>
        <p:nvPr/>
      </p:nvGrpSpPr>
      <p:grpSpPr/>
      <p:sp>
        <p:nvSpPr>
          <p:cNvPr id="2" name="Rectangle 1"/>
          <p:cNvSpPr/>
          <p:nvPr/>
        </p:nvSpPr>
        <p:spPr>
          <a:xfrm>
            <a:off x="438912" y="393192"/>
            <a:ext cx="429768" cy="32004"/>
          </a:xfrm>
          <a:prstGeom prst="rect">
            <a:avLst/>
          </a:prstGeom>
          <a:solidFill>
            <a:srgbClr val="B58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87552" y="274320"/>
            <a:ext cx="10058400" cy="274320"/>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AVAILABILITY AND EVIDENCE</a:t>
            </a:r>
          </a:p>
        </p:txBody>
      </p:sp>
      <p:sp>
        <p:nvSpPr>
          <p:cNvPr id="4" name="TextBox 3"/>
          <p:cNvSpPr txBox="1"/>
          <p:nvPr/>
        </p:nvSpPr>
        <p:spPr>
          <a:xfrm>
            <a:off x="502920" y="804672"/>
            <a:ext cx="11155680" cy="603504"/>
          </a:xfrm>
          <a:prstGeom prst="rect">
            <a:avLst/>
          </a:prstGeom>
          <a:noFill/>
        </p:spPr>
        <p:txBody>
          <a:bodyPr wrap="square" lIns="0" rIns="0" tIns="0" bIns="0">
            <a:spAutoFit/>
          </a:bodyPr>
          <a:lstStyle/>
          <a:p>
            <a:pPr>
              <a:spcAft>
                <a:spcPts val="800"/>
              </a:spcAft>
              <a:defRPr sz="3200" b="0">
                <a:solidFill>
                  <a:srgbClr val="24382F"/>
                </a:solidFill>
                <a:latin typeface="Liberation Serif"/>
              </a:defRPr>
            </a:pPr>
            <a:r>
              <a:t>A working prototype, with a clear next gate.</a:t>
            </a:r>
          </a:p>
        </p:txBody>
      </p:sp>
      <p:sp>
        <p:nvSpPr>
          <p:cNvPr id="5" name="Rectangle 4"/>
          <p:cNvSpPr/>
          <p:nvPr/>
        </p:nvSpPr>
        <p:spPr>
          <a:xfrm>
            <a:off x="502920" y="6419088"/>
            <a:ext cx="11183112" cy="10972"/>
          </a:xfrm>
          <a:prstGeom prst="rect">
            <a:avLst/>
          </a:prstGeom>
          <a:solidFill>
            <a:srgbClr val="CCD0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37960"/>
            <a:ext cx="10607040" cy="182880"/>
          </a:xfrm>
          <a:prstGeom prst="rect">
            <a:avLst/>
          </a:prstGeom>
          <a:noFill/>
        </p:spPr>
        <p:txBody>
          <a:bodyPr wrap="square" lIns="0" rIns="0" tIns="0" bIns="0">
            <a:spAutoFit/>
          </a:bodyPr>
          <a:lstStyle/>
          <a:p>
            <a:pPr>
              <a:spcAft>
                <a:spcPts val="800"/>
              </a:spcAft>
              <a:defRPr sz="800" b="0">
                <a:solidFill>
                  <a:srgbClr val="687365"/>
                </a:solidFill>
                <a:latin typeface="Liberation Sans"/>
              </a:defRPr>
            </a:pPr>
            <a:r>
              <a:t>GOAL 007 / LOCAL COMPONENTS / CURRENT PRACTICE EVIDENCE / HOSTED ACCEPTANCE PENDING</a:t>
            </a:r>
          </a:p>
        </p:txBody>
      </p:sp>
      <p:sp>
        <p:nvSpPr>
          <p:cNvPr id="7" name="TextBox 6"/>
          <p:cNvSpPr txBox="1"/>
          <p:nvPr/>
        </p:nvSpPr>
        <p:spPr>
          <a:xfrm>
            <a:off x="11274552" y="6510528"/>
            <a:ext cx="457200" cy="237744"/>
          </a:xfrm>
          <a:prstGeom prst="rect">
            <a:avLst/>
          </a:prstGeom>
          <a:noFill/>
        </p:spPr>
        <p:txBody>
          <a:bodyPr wrap="square" lIns="0" rIns="0" tIns="0" bIns="0">
            <a:spAutoFit/>
          </a:bodyPr>
          <a:lstStyle/>
          <a:p>
            <a:pPr>
              <a:spcAft>
                <a:spcPts val="800"/>
              </a:spcAft>
              <a:defRPr sz="1100" b="1">
                <a:solidFill>
                  <a:srgbClr val="58745D"/>
                </a:solidFill>
                <a:latin typeface="Liberation Sans"/>
              </a:defRPr>
            </a:pPr>
            <a:r>
              <a:t>06</a:t>
            </a:r>
          </a:p>
        </p:txBody>
      </p:sp>
      <p:sp>
        <p:nvSpPr>
          <p:cNvPr id="8" name="Rounded Rectangle 7"/>
          <p:cNvSpPr/>
          <p:nvPr/>
        </p:nvSpPr>
        <p:spPr>
          <a:xfrm>
            <a:off x="576072" y="1819656"/>
            <a:ext cx="5330952" cy="3090672"/>
          </a:xfrm>
          <a:prstGeom prst="roundRect">
            <a:avLst/>
          </a:prstGeom>
          <a:solidFill>
            <a:srgbClr val="E2E5C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057400"/>
            <a:ext cx="4782312" cy="457200"/>
          </a:xfrm>
          <a:prstGeom prst="rect">
            <a:avLst/>
          </a:prstGeom>
          <a:noFill/>
        </p:spPr>
        <p:txBody>
          <a:bodyPr wrap="square" lIns="0" rIns="0" tIns="0" bIns="0">
            <a:spAutoFit/>
          </a:bodyPr>
          <a:lstStyle/>
          <a:p>
            <a:pPr>
              <a:spcAft>
                <a:spcPts val="800"/>
              </a:spcAft>
              <a:defRPr sz="1500" b="1">
                <a:solidFill>
                  <a:srgbClr val="58745D"/>
                </a:solidFill>
                <a:latin typeface="Liberation Sans"/>
              </a:defRPr>
            </a:pPr>
            <a:r>
              <a:t>READY LOCALLY</a:t>
            </a:r>
          </a:p>
        </p:txBody>
      </p:sp>
      <p:sp>
        <p:nvSpPr>
          <p:cNvPr id="10" name="TextBox 9"/>
          <p:cNvSpPr txBox="1"/>
          <p:nvPr/>
        </p:nvSpPr>
        <p:spPr>
          <a:xfrm>
            <a:off x="841248" y="2706624"/>
            <a:ext cx="4636008" cy="1773936"/>
          </a:xfrm>
          <a:prstGeom prst="rect">
            <a:avLst/>
          </a:prstGeom>
          <a:noFill/>
        </p:spPr>
        <p:txBody>
          <a:bodyPr wrap="square" lIns="0" rIns="0" tIns="0" bIns="0">
            <a:spAutoFit/>
          </a:bodyPr>
          <a:lstStyle/>
          <a:p>
            <a:pPr>
              <a:spcAft>
                <a:spcPts val="800"/>
              </a:spcAft>
              <a:defRPr sz="1900" b="0">
                <a:solidFill>
                  <a:srgbClr val="24382F"/>
                </a:solidFill>
                <a:latin typeface="Liberation Sans"/>
              </a:defRPr>
            </a:pPr>
            <a:r>
              <a:t>Practice and Training</a:t>
            </a:r>
          </a:p>
          <a:p>
            <a:pPr>
              <a:spcAft>
                <a:spcPts val="800"/>
              </a:spcAft>
              <a:defRPr sz="1900" b="0">
                <a:solidFill>
                  <a:srgbClr val="24382F"/>
                </a:solidFill>
                <a:latin typeface="Liberation Sans"/>
              </a:defRPr>
            </a:pPr>
            <a:r>
              <a:t>Rescue + optional recorder</a:t>
            </a:r>
          </a:p>
          <a:p>
            <a:pPr>
              <a:spcAft>
                <a:spcPts val="800"/>
              </a:spcAft>
              <a:defRPr sz="1900" b="0">
                <a:solidFill>
                  <a:srgbClr val="24382F"/>
                </a:solidFill>
                <a:latin typeface="Liberation Sans"/>
              </a:defRPr>
            </a:pPr>
            <a:r>
              <a:t>Exact confirmation + recovery</a:t>
            </a:r>
          </a:p>
          <a:p>
            <a:pPr>
              <a:spcAft>
                <a:spcPts val="800"/>
              </a:spcAft>
              <a:defRPr sz="1900" b="0">
                <a:solidFill>
                  <a:srgbClr val="24382F"/>
                </a:solidFill>
                <a:latin typeface="Liberation Sans"/>
              </a:defRPr>
            </a:pPr>
            <a:r>
              <a:t>Four screenshots + editable deck</a:t>
            </a:r>
          </a:p>
        </p:txBody>
      </p:sp>
      <p:sp>
        <p:nvSpPr>
          <p:cNvPr id="11" name="Rounded Rectangle 10"/>
          <p:cNvSpPr/>
          <p:nvPr/>
        </p:nvSpPr>
        <p:spPr>
          <a:xfrm>
            <a:off x="6245352" y="1819656"/>
            <a:ext cx="5367528" cy="3090672"/>
          </a:xfrm>
          <a:prstGeom prst="roundRect">
            <a:avLst/>
          </a:prstGeom>
          <a:solidFill>
            <a:srgbClr val="2438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2057400"/>
            <a:ext cx="4773168" cy="457200"/>
          </a:xfrm>
          <a:prstGeom prst="rect">
            <a:avLst/>
          </a:prstGeom>
          <a:noFill/>
        </p:spPr>
        <p:txBody>
          <a:bodyPr wrap="square" lIns="0" rIns="0" tIns="0" bIns="0">
            <a:spAutoFit/>
          </a:bodyPr>
          <a:lstStyle/>
          <a:p>
            <a:pPr>
              <a:spcAft>
                <a:spcPts val="800"/>
              </a:spcAft>
              <a:defRPr sz="1500" b="1">
                <a:solidFill>
                  <a:srgbClr val="DCE3D1"/>
                </a:solidFill>
                <a:latin typeface="Liberation Sans"/>
              </a:defRPr>
            </a:pPr>
            <a:r>
              <a:t>PENDING RELEASE EVIDENCE</a:t>
            </a:r>
          </a:p>
        </p:txBody>
      </p:sp>
      <p:sp>
        <p:nvSpPr>
          <p:cNvPr id="13" name="TextBox 12"/>
          <p:cNvSpPr txBox="1"/>
          <p:nvPr/>
        </p:nvSpPr>
        <p:spPr>
          <a:xfrm>
            <a:off x="6510528" y="2706624"/>
            <a:ext cx="4690872" cy="1773936"/>
          </a:xfrm>
          <a:prstGeom prst="rect">
            <a:avLst/>
          </a:prstGeom>
          <a:noFill/>
        </p:spPr>
        <p:txBody>
          <a:bodyPr wrap="square" lIns="0" rIns="0" tIns="0" bIns="0">
            <a:spAutoFit/>
          </a:bodyPr>
          <a:lstStyle/>
          <a:p>
            <a:pPr>
              <a:spcAft>
                <a:spcPts val="800"/>
              </a:spcAft>
              <a:defRPr sz="1900" b="0">
                <a:solidFill>
                  <a:srgbClr val="F4EFE2"/>
                </a:solidFill>
                <a:latin typeface="Liberation Sans"/>
              </a:defRPr>
            </a:pPr>
            <a:r>
              <a:t>Public HTTPS access: pending</a:t>
            </a:r>
          </a:p>
          <a:p>
            <a:pPr>
              <a:spcAft>
                <a:spcPts val="800"/>
              </a:spcAft>
              <a:defRPr sz="1900" b="0">
                <a:solidFill>
                  <a:srgbClr val="F4EFE2"/>
                </a:solidFill>
                <a:latin typeface="Liberation Sans"/>
              </a:defRPr>
            </a:pPr>
            <a:r>
              <a:t>Current Live acceptance: pending</a:t>
            </a:r>
          </a:p>
          <a:p>
            <a:pPr>
              <a:spcAft>
                <a:spcPts val="800"/>
              </a:spcAft>
              <a:defRPr sz="1900" b="0">
                <a:solidFill>
                  <a:srgbClr val="F4EFE2"/>
                </a:solidFill>
                <a:latin typeface="Liberation Sans"/>
              </a:defRPr>
            </a:pPr>
            <a:r>
              <a:t>Source: Private; historical disclosure pending</a:t>
            </a:r>
          </a:p>
          <a:p>
            <a:pPr>
              <a:spcAft>
                <a:spcPts val="800"/>
              </a:spcAft>
              <a:defRPr sz="1900" b="0">
                <a:solidFill>
                  <a:srgbClr val="F4EFE2"/>
                </a:solidFill>
                <a:latin typeface="Liberation Sans"/>
              </a:defRPr>
            </a:pPr>
            <a:r>
              <a:t>Final current Voice video: pending</a:t>
            </a:r>
          </a:p>
        </p:txBody>
      </p:sp>
      <p:sp>
        <p:nvSpPr>
          <p:cNvPr id="14" name="TextBox 13"/>
          <p:cNvSpPr txBox="1"/>
          <p:nvPr/>
        </p:nvSpPr>
        <p:spPr>
          <a:xfrm>
            <a:off x="832104" y="5248656"/>
            <a:ext cx="10460736" cy="594360"/>
          </a:xfrm>
          <a:prstGeom prst="rect">
            <a:avLst/>
          </a:prstGeom>
          <a:noFill/>
        </p:spPr>
        <p:txBody>
          <a:bodyPr wrap="square" lIns="0" rIns="0" tIns="0" bIns="0">
            <a:spAutoFit/>
          </a:bodyPr>
          <a:lstStyle/>
          <a:p>
            <a:pPr>
              <a:spcAft>
                <a:spcPts val="800"/>
              </a:spcAft>
              <a:defRPr sz="1800" b="0">
                <a:solidFill>
                  <a:srgbClr val="687365"/>
                </a:solidFill>
                <a:latin typeface="Liberation Sans"/>
              </a:defRPr>
            </a:pPr>
            <a:r>
              <a:t>An earlier build completed one real Voice rescue; another run stalled. That history remains preserved and is not a current-build acceptance result.</a:t>
            </a:r>
          </a:p>
        </p:txBody>
      </p:sp>
      <p:sp>
        <p:nvSpPr>
          <p:cNvPr id="15" name="TextBox 14"/>
          <p:cNvSpPr txBox="1"/>
          <p:nvPr/>
        </p:nvSpPr>
        <p:spPr>
          <a:xfrm>
            <a:off x="832104" y="6007608"/>
            <a:ext cx="10424160" cy="228600"/>
          </a:xfrm>
          <a:prstGeom prst="rect">
            <a:avLst/>
          </a:prstGeom>
          <a:noFill/>
        </p:spPr>
        <p:txBody>
          <a:bodyPr wrap="square" lIns="0" rIns="0" tIns="0" bIns="0">
            <a:spAutoFit/>
          </a:bodyPr>
          <a:lstStyle/>
          <a:p>
            <a:pPr>
              <a:spcAft>
                <a:spcPts val="800"/>
              </a:spcAft>
              <a:defRPr sz="1200" b="1">
                <a:solidFill>
                  <a:srgbClr val="58745D"/>
                </a:solidFill>
                <a:latin typeface="Liberation Sans"/>
              </a:defRPr>
            </a:pPr>
            <a:r>
              <a:t>Screens shown here are deterministic Practice. No new human playtest or enjoyment result is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Talk Me Home - Goal 007 local submission components</dc:title>
  <dc:subject>Six editable slides; hosted access and current Live acceptance pending</dc:subject>
  <dc:creator>Talk Me Home</dc:creator>
  <cp:keywords>Goal007, Practice, work in progress, no new Live claim</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