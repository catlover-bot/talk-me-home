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project illustration, not a fake gameplay screenshot. Local prototype. No live URL is supplied.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Native editable role diagram. Human private map and notes are not supplied to Pip; hidden local state is not streamed into the human map.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Actual attempt12 Gallery frame. Quotation is an excerpt from its original provider transcript. Synthetic microphone input, real AssemblyAI, exact UI confirmation. The recording shows a blocked southeast passage and confirmed southwest backtrack.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Actual new-build deterministic Practice screenshot, not real Voice. Source artifacts/goal-006/ui/delivery-recorder/home-1440.png; screenshot source commit 2a08aefe835a45ca815c281753784b3f8b4e6487. Recorder modifier is explicitly selected, optional, and the ending item reflects an admitted pickup. Historical Voice did not contain this mechanic. Its archive location is authored independently of the blocked gate; some routes already pass through it. Video and later screenshot identities are retained separately in practice-source.json.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Native editable architecture diagram. AssemblyAI delivers recognition, agent generation, client function-call protocol and speech; browser tools use the authoritative game server. Read-only inspections are immediate. Physical actions require a separate exact owner-bound console decision.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Attempt12 completed Cargo/Gallery/Dock/home with11 exact confirmations and remote ending ACK. Attempt13 on the same candidate stalled in Gallery without ACK. Two-pass target not met; RELEASE_NOT_LIVE_VERIFIED. No users, revenue or enjoyment scores invented. Future playtest is optional and not a prerequisite for local delivery.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4382F"/>
        </a:solidFill>
        <a:effectLst/>
      </p:bgPr>
    </p:bg>
    <p:spTree>
      <p:nvGrpSpPr>
        <p:cNvPr id="1" name=""/>
        <p:cNvGrpSpPr/>
        <p:nvPr/>
      </p:nvGrpSpPr>
      <p:grpSpPr/>
      <p:pic>
        <p:nvPicPr>
          <p:cNvPr id="2" name="Picture 1" descr="cover-art-detail.png"/>
          <p:cNvPicPr>
            <a:picLocks noChangeAspect="1"/>
          </p:cNvPicPr>
          <p:nvPr/>
        </p:nvPicPr>
        <p:blipFill>
          <a:blip r:embed="rId2"/>
          <a:stretch>
            <a:fillRect/>
          </a:stretch>
        </p:blipFill>
        <p:spPr>
          <a:xfrm>
            <a:off x="5577840" y="297420"/>
            <a:ext cx="6611112" cy="6263158"/>
          </a:xfrm>
          <a:prstGeom prst="rect">
            <a:avLst/>
          </a:prstGeom>
        </p:spPr>
      </p:pic>
      <p:sp>
        <p:nvSpPr>
          <p:cNvPr id="3" name="Rectangle 2"/>
          <p:cNvSpPr/>
          <p:nvPr/>
        </p:nvSpPr>
        <p:spPr>
          <a:xfrm>
            <a:off x="0" y="0"/>
            <a:ext cx="5669280" cy="6858000"/>
          </a:xfrm>
          <a:prstGeom prst="rect">
            <a:avLst/>
          </a:prstGeom>
          <a:solidFill>
            <a:srgbClr val="2438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40080"/>
            <a:ext cx="4937760" cy="365760"/>
          </a:xfrm>
          <a:prstGeom prst="rect">
            <a:avLst/>
          </a:prstGeom>
          <a:noFill/>
        </p:spPr>
        <p:txBody>
          <a:bodyPr wrap="square" lIns="0" rIns="0" tIns="0" bIns="0">
            <a:spAutoFit/>
          </a:bodyPr>
          <a:lstStyle/>
          <a:p>
            <a:pPr>
              <a:spcAft>
                <a:spcPts val="800"/>
              </a:spcAft>
              <a:defRPr sz="1200" b="1">
                <a:solidFill>
                  <a:srgbClr val="CDD4C0"/>
                </a:solidFill>
                <a:latin typeface="Liberation Sans"/>
              </a:defRPr>
            </a:pPr>
            <a:r>
              <a:t>COOPERATION THROUGH CONVERSATION</a:t>
            </a:r>
          </a:p>
        </p:txBody>
      </p:sp>
      <p:sp>
        <p:nvSpPr>
          <p:cNvPr id="5" name="TextBox 4"/>
          <p:cNvSpPr txBox="1"/>
          <p:nvPr/>
        </p:nvSpPr>
        <p:spPr>
          <a:xfrm>
            <a:off x="612648" y="1554480"/>
            <a:ext cx="5029200" cy="1828800"/>
          </a:xfrm>
          <a:prstGeom prst="rect">
            <a:avLst/>
          </a:prstGeom>
          <a:noFill/>
        </p:spPr>
        <p:txBody>
          <a:bodyPr wrap="square" lIns="0" rIns="0" tIns="0" bIns="0">
            <a:spAutoFit/>
          </a:bodyPr>
          <a:lstStyle/>
          <a:p>
            <a:pPr>
              <a:spcAft>
                <a:spcPts val="800"/>
              </a:spcAft>
              <a:defRPr sz="5800" b="0">
                <a:solidFill>
                  <a:srgbClr val="F4EFE2"/>
                </a:solidFill>
                <a:latin typeface="Liberation Serif"/>
              </a:defRPr>
            </a:pPr>
            <a:r>
              <a:t>Talk Me</a:t>
            </a:r>
          </a:p>
          <a:p>
            <a:pPr>
              <a:spcAft>
                <a:spcPts val="800"/>
              </a:spcAft>
              <a:defRPr sz="5800" b="0">
                <a:solidFill>
                  <a:srgbClr val="F4EFE2"/>
                </a:solidFill>
                <a:latin typeface="Liberation Serif"/>
              </a:defRPr>
            </a:pPr>
            <a:r>
              <a:t>Home.</a:t>
            </a:r>
          </a:p>
        </p:txBody>
      </p:sp>
      <p:sp>
        <p:nvSpPr>
          <p:cNvPr id="6" name="TextBox 5"/>
          <p:cNvSpPr txBox="1"/>
          <p:nvPr/>
        </p:nvSpPr>
        <p:spPr>
          <a:xfrm>
            <a:off x="667512" y="3995928"/>
            <a:ext cx="5120640" cy="1005840"/>
          </a:xfrm>
          <a:prstGeom prst="rect">
            <a:avLst/>
          </a:prstGeom>
          <a:noFill/>
        </p:spPr>
        <p:txBody>
          <a:bodyPr wrap="square" lIns="0" rIns="0" tIns="0" bIns="0">
            <a:spAutoFit/>
          </a:bodyPr>
          <a:lstStyle/>
          <a:p>
            <a:pPr>
              <a:spcAft>
                <a:spcPts val="800"/>
              </a:spcAft>
              <a:defRPr sz="2500" b="0">
                <a:solidFill>
                  <a:srgbClr val="F4EFE2"/>
                </a:solidFill>
                <a:latin typeface="Liberation Sans"/>
              </a:defRPr>
            </a:pPr>
            <a:r>
              <a:t>You have the map.</a:t>
            </a:r>
          </a:p>
          <a:p>
            <a:pPr>
              <a:spcAft>
                <a:spcPts val="800"/>
              </a:spcAft>
              <a:defRPr sz="2500" b="0">
                <a:solidFill>
                  <a:srgbClr val="F4EFE2"/>
                </a:solidFill>
                <a:latin typeface="Liberation Sans"/>
              </a:defRPr>
            </a:pPr>
            <a:r>
              <a:t>Pip has eyes and hands.</a:t>
            </a:r>
          </a:p>
        </p:txBody>
      </p:sp>
      <p:sp>
        <p:nvSpPr>
          <p:cNvPr id="7" name="TextBox 6"/>
          <p:cNvSpPr txBox="1"/>
          <p:nvPr/>
        </p:nvSpPr>
        <p:spPr>
          <a:xfrm>
            <a:off x="667512" y="5733288"/>
            <a:ext cx="4937760" cy="502920"/>
          </a:xfrm>
          <a:prstGeom prst="rect">
            <a:avLst/>
          </a:prstGeom>
          <a:noFill/>
        </p:spPr>
        <p:txBody>
          <a:bodyPr wrap="square" lIns="0" rIns="0" tIns="0" bIns="0">
            <a:spAutoFit/>
          </a:bodyPr>
          <a:lstStyle/>
          <a:p>
            <a:pPr>
              <a:spcAft>
                <a:spcPts val="800"/>
              </a:spcAft>
              <a:defRPr sz="2000" b="0">
                <a:solidFill>
                  <a:srgbClr val="D7D1B9"/>
                </a:solidFill>
                <a:latin typeface="Liberation Sans"/>
              </a:defRPr>
            </a:pPr>
            <a:r>
              <a:t>Neither can escape alone.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EFE2"/>
        </a:solidFill>
        <a:effectLst/>
      </p:bgPr>
    </p:bg>
    <p:spTree>
      <p:nvGrpSpPr>
        <p:cNvPr id="1" name=""/>
        <p:cNvGrpSpPr/>
        <p:nvPr/>
      </p:nvGrpSpPr>
      <p:grpSpPr/>
      <p:sp>
        <p:nvSpPr>
          <p:cNvPr id="2" name="Rectangle 1"/>
          <p:cNvSpPr/>
          <p:nvPr/>
        </p:nvSpPr>
        <p:spPr>
          <a:xfrm>
            <a:off x="594360" y="457200"/>
            <a:ext cx="411480" cy="41148"/>
          </a:xfrm>
          <a:prstGeom prst="rect">
            <a:avLst/>
          </a:prstGeom>
          <a:solidFill>
            <a:srgbClr val="B58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33856" y="365760"/>
            <a:ext cx="10058400" cy="320040"/>
          </a:xfrm>
          <a:prstGeom prst="rect">
            <a:avLst/>
          </a:prstGeom>
          <a:noFill/>
        </p:spPr>
        <p:txBody>
          <a:bodyPr wrap="square" lIns="0" rIns="0" tIns="0" bIns="0">
            <a:spAutoFit/>
          </a:bodyPr>
          <a:lstStyle/>
          <a:p>
            <a:pPr>
              <a:spcAft>
                <a:spcPts val="800"/>
              </a:spcAft>
              <a:defRPr sz="1100" b="1">
                <a:solidFill>
                  <a:srgbClr val="607066"/>
                </a:solidFill>
                <a:latin typeface="Liberation Sans"/>
              </a:defRPr>
            </a:pPr>
            <a:r>
              <a:t>THE ASYMMETRY</a:t>
            </a:r>
          </a:p>
        </p:txBody>
      </p:sp>
      <p:sp>
        <p:nvSpPr>
          <p:cNvPr id="4" name="TextBox 3"/>
          <p:cNvSpPr txBox="1"/>
          <p:nvPr/>
        </p:nvSpPr>
        <p:spPr>
          <a:xfrm>
            <a:off x="594360" y="960120"/>
            <a:ext cx="10972800" cy="822960"/>
          </a:xfrm>
          <a:prstGeom prst="rect">
            <a:avLst/>
          </a:prstGeom>
          <a:noFill/>
        </p:spPr>
        <p:txBody>
          <a:bodyPr wrap="square" lIns="0" rIns="0" tIns="0" bIns="0">
            <a:spAutoFit/>
          </a:bodyPr>
          <a:lstStyle/>
          <a:p>
            <a:pPr>
              <a:spcAft>
                <a:spcPts val="800"/>
              </a:spcAft>
              <a:defRPr sz="3500" b="0">
                <a:solidFill>
                  <a:srgbClr val="24382F"/>
                </a:solidFill>
                <a:latin typeface="Liberation Serif"/>
              </a:defRPr>
            </a:pPr>
            <a:r>
              <a:t>One world, two incomplete views.</a:t>
            </a:r>
          </a:p>
        </p:txBody>
      </p:sp>
      <p:sp>
        <p:nvSpPr>
          <p:cNvPr id="5" name="TextBox 4"/>
          <p:cNvSpPr txBox="1"/>
          <p:nvPr/>
        </p:nvSpPr>
        <p:spPr>
          <a:xfrm>
            <a:off x="621792" y="6473952"/>
            <a:ext cx="10058400" cy="201168"/>
          </a:xfrm>
          <a:prstGeom prst="rect">
            <a:avLst/>
          </a:prstGeom>
          <a:noFill/>
        </p:spPr>
        <p:txBody>
          <a:bodyPr wrap="square" lIns="0" rIns="0" tIns="0" bIns="0">
            <a:spAutoFit/>
          </a:bodyPr>
          <a:lstStyle/>
          <a:p>
            <a:pPr>
              <a:spcAft>
                <a:spcPts val="800"/>
              </a:spcAft>
              <a:defRPr sz="900" b="0">
                <a:solidFill>
                  <a:srgbClr val="607066"/>
                </a:solidFill>
                <a:latin typeface="Liberation Sans"/>
              </a:defRPr>
            </a:pPr>
            <a:r>
              <a:t>Talk Me Home · Historical real Voice + new Practice · different builds, separately labelled</a:t>
            </a:r>
          </a:p>
        </p:txBody>
      </p:sp>
      <p:sp>
        <p:nvSpPr>
          <p:cNvPr id="6" name="TextBox 5"/>
          <p:cNvSpPr txBox="1"/>
          <p:nvPr/>
        </p:nvSpPr>
        <p:spPr>
          <a:xfrm>
            <a:off x="10881360" y="6446520"/>
            <a:ext cx="731520" cy="274320"/>
          </a:xfrm>
          <a:prstGeom prst="rect">
            <a:avLst/>
          </a:prstGeom>
          <a:noFill/>
        </p:spPr>
        <p:txBody>
          <a:bodyPr wrap="square" lIns="0" rIns="0" tIns="0" bIns="0">
            <a:spAutoFit/>
          </a:bodyPr>
          <a:lstStyle/>
          <a:p>
            <a:pPr>
              <a:spcAft>
                <a:spcPts val="800"/>
              </a:spcAft>
              <a:defRPr sz="1000" b="0">
                <a:solidFill>
                  <a:srgbClr val="607066"/>
                </a:solidFill>
                <a:latin typeface="Liberation Sans"/>
              </a:defRPr>
            </a:pPr>
            <a:r>
              <a:t>02 / 06</a:t>
            </a:r>
          </a:p>
        </p:txBody>
      </p:sp>
      <p:sp>
        <p:nvSpPr>
          <p:cNvPr id="7" name="Rectangle 6"/>
          <p:cNvSpPr/>
          <p:nvPr/>
        </p:nvSpPr>
        <p:spPr>
          <a:xfrm>
            <a:off x="640080" y="2212848"/>
            <a:ext cx="5285232" cy="2944368"/>
          </a:xfrm>
          <a:prstGeom prst="rect">
            <a:avLst/>
          </a:prstGeom>
          <a:solidFill>
            <a:srgbClr val="E8E1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468880"/>
            <a:ext cx="4828032" cy="457200"/>
          </a:xfrm>
          <a:prstGeom prst="rect">
            <a:avLst/>
          </a:prstGeom>
          <a:noFill/>
        </p:spPr>
        <p:txBody>
          <a:bodyPr wrap="square" lIns="0" rIns="0" tIns="0" bIns="0">
            <a:spAutoFit/>
          </a:bodyPr>
          <a:lstStyle/>
          <a:p>
            <a:pPr>
              <a:spcAft>
                <a:spcPts val="800"/>
              </a:spcAft>
              <a:defRPr sz="1500" b="1">
                <a:solidFill>
                  <a:srgbClr val="557862"/>
                </a:solidFill>
                <a:latin typeface="Liberation Sans"/>
              </a:defRPr>
            </a:pPr>
            <a:r>
              <a:t>YOU / MISSION CONTROL</a:t>
            </a:r>
          </a:p>
        </p:txBody>
      </p:sp>
      <p:sp>
        <p:nvSpPr>
          <p:cNvPr id="9" name="TextBox 8"/>
          <p:cNvSpPr txBox="1"/>
          <p:nvPr/>
        </p:nvSpPr>
        <p:spPr>
          <a:xfrm>
            <a:off x="868680" y="3136392"/>
            <a:ext cx="4828032" cy="1645920"/>
          </a:xfrm>
          <a:prstGeom prst="rect">
            <a:avLst/>
          </a:prstGeom>
          <a:noFill/>
        </p:spPr>
        <p:txBody>
          <a:bodyPr wrap="square" lIns="0" rIns="0" tIns="0" bIns="0">
            <a:spAutoFit/>
          </a:bodyPr>
          <a:lstStyle/>
          <a:p>
            <a:pPr>
              <a:spcAft>
                <a:spcPts val="800"/>
              </a:spcAft>
              <a:defRPr sz="2200" b="0">
                <a:solidFill>
                  <a:srgbClr val="24382F"/>
                </a:solidFill>
                <a:latin typeface="Liberation Sans"/>
              </a:defRPr>
            </a:pPr>
            <a:r>
              <a:t>Private maps and equipment manuals</a:t>
            </a:r>
          </a:p>
          <a:p>
            <a:pPr>
              <a:spcAft>
                <a:spcPts val="800"/>
              </a:spcAft>
              <a:defRPr sz="2200" b="0">
                <a:solidFill>
                  <a:srgbClr val="24382F"/>
                </a:solidFill>
                <a:latin typeface="Liberation Sans"/>
              </a:defRPr>
            </a:pPr>
            <a:r>
              <a:t>Remote Power, Relay and Charge</a:t>
            </a:r>
          </a:p>
          <a:p>
            <a:pPr>
              <a:spcAft>
                <a:spcPts val="800"/>
              </a:spcAft>
              <a:defRPr sz="2200" b="0">
                <a:solidFill>
                  <a:srgbClr val="24382F"/>
                </a:solidFill>
                <a:latin typeface="Liberation Sans"/>
              </a:defRPr>
            </a:pPr>
            <a:r>
              <a:t>A plan — and the final confirmation</a:t>
            </a:r>
          </a:p>
        </p:txBody>
      </p:sp>
      <p:sp>
        <p:nvSpPr>
          <p:cNvPr id="10" name="Rectangle 9"/>
          <p:cNvSpPr/>
          <p:nvPr/>
        </p:nvSpPr>
        <p:spPr>
          <a:xfrm>
            <a:off x="6263640" y="2212848"/>
            <a:ext cx="5285232" cy="2944368"/>
          </a:xfrm>
          <a:prstGeom prst="rect">
            <a:avLst/>
          </a:prstGeom>
          <a:solidFill>
            <a:srgbClr val="E3E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2468880"/>
            <a:ext cx="4828032" cy="457200"/>
          </a:xfrm>
          <a:prstGeom prst="rect">
            <a:avLst/>
          </a:prstGeom>
          <a:noFill/>
        </p:spPr>
        <p:txBody>
          <a:bodyPr wrap="square" lIns="0" rIns="0" tIns="0" bIns="0">
            <a:spAutoFit/>
          </a:bodyPr>
          <a:lstStyle/>
          <a:p>
            <a:pPr>
              <a:spcAft>
                <a:spcPts val="800"/>
              </a:spcAft>
              <a:defRPr sz="1500" b="1">
                <a:solidFill>
                  <a:srgbClr val="557862"/>
                </a:solidFill>
                <a:latin typeface="Liberation Sans"/>
              </a:defRPr>
            </a:pPr>
            <a:r>
              <a:t>PIP / INSIDE THE STATION</a:t>
            </a:r>
          </a:p>
        </p:txBody>
      </p:sp>
      <p:sp>
        <p:nvSpPr>
          <p:cNvPr id="12" name="TextBox 11"/>
          <p:cNvSpPr txBox="1"/>
          <p:nvPr/>
        </p:nvSpPr>
        <p:spPr>
          <a:xfrm>
            <a:off x="6492240" y="3136392"/>
            <a:ext cx="4828032" cy="1645920"/>
          </a:xfrm>
          <a:prstGeom prst="rect">
            <a:avLst/>
          </a:prstGeom>
          <a:noFill/>
        </p:spPr>
        <p:txBody>
          <a:bodyPr wrap="square" lIns="0" rIns="0" tIns="0" bIns="0">
            <a:spAutoFit/>
          </a:bodyPr>
          <a:lstStyle/>
          <a:p>
            <a:pPr>
              <a:spcAft>
                <a:spcPts val="800"/>
              </a:spcAft>
              <a:defRPr sz="2200" b="0">
                <a:solidFill>
                  <a:srgbClr val="24382F"/>
                </a:solidFill>
                <a:latin typeface="Liberation Sans"/>
              </a:defRPr>
            </a:pPr>
            <a:r>
              <a:t>Local eyes and hands</a:t>
            </a:r>
          </a:p>
          <a:p>
            <a:pPr>
              <a:spcAft>
                <a:spcPts val="800"/>
              </a:spcAft>
              <a:defRPr sz="2200" b="0">
                <a:solidFill>
                  <a:srgbClr val="24382F"/>
                </a:solidFill>
                <a:latin typeface="Liberation Sans"/>
              </a:defRPr>
            </a:pPr>
            <a:r>
              <a:t>Observed clues and passage checks</a:t>
            </a:r>
          </a:p>
          <a:p>
            <a:pPr>
              <a:spcAft>
                <a:spcPts val="800"/>
              </a:spcAft>
              <a:defRPr sz="2200" b="0">
                <a:solidFill>
                  <a:srgbClr val="24382F"/>
                </a:solidFill>
                <a:latin typeface="Liberation Sans"/>
              </a:defRPr>
            </a:pPr>
            <a:r>
              <a:t>A specific physical proposal</a:t>
            </a:r>
          </a:p>
        </p:txBody>
      </p:sp>
      <p:sp>
        <p:nvSpPr>
          <p:cNvPr id="13" name="TextBox 12"/>
          <p:cNvSpPr txBox="1"/>
          <p:nvPr/>
        </p:nvSpPr>
        <p:spPr>
          <a:xfrm>
            <a:off x="704088" y="5596128"/>
            <a:ext cx="10789920" cy="594360"/>
          </a:xfrm>
          <a:prstGeom prst="rect">
            <a:avLst/>
          </a:prstGeom>
          <a:noFill/>
        </p:spPr>
        <p:txBody>
          <a:bodyPr wrap="square" lIns="0" rIns="0" tIns="0" bIns="0">
            <a:spAutoFit/>
          </a:bodyPr>
          <a:lstStyle/>
          <a:p>
            <a:pPr>
              <a:spcAft>
                <a:spcPts val="800"/>
              </a:spcAft>
              <a:defRPr sz="2200" b="0">
                <a:solidFill>
                  <a:srgbClr val="557862"/>
                </a:solidFill>
                <a:latin typeface="Liberation Sans"/>
              </a:defRPr>
            </a:pPr>
            <a:r>
              <a:t>The shared conversation is the bridge. Neither side gets an automatic complete view.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EFE2"/>
        </a:solidFill>
        <a:effectLst/>
      </p:bgPr>
    </p:bg>
    <p:spTree>
      <p:nvGrpSpPr>
        <p:cNvPr id="1" name=""/>
        <p:cNvGrpSpPr/>
        <p:nvPr/>
      </p:nvGrpSpPr>
      <p:grpSpPr/>
      <p:sp>
        <p:nvSpPr>
          <p:cNvPr id="2" name="Rectangle 1"/>
          <p:cNvSpPr/>
          <p:nvPr/>
        </p:nvSpPr>
        <p:spPr>
          <a:xfrm>
            <a:off x="594360" y="457200"/>
            <a:ext cx="411480" cy="41148"/>
          </a:xfrm>
          <a:prstGeom prst="rect">
            <a:avLst/>
          </a:prstGeom>
          <a:solidFill>
            <a:srgbClr val="B58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33856" y="365760"/>
            <a:ext cx="10058400" cy="320040"/>
          </a:xfrm>
          <a:prstGeom prst="rect">
            <a:avLst/>
          </a:prstGeom>
          <a:noFill/>
        </p:spPr>
        <p:txBody>
          <a:bodyPr wrap="square" lIns="0" rIns="0" tIns="0" bIns="0">
            <a:spAutoFit/>
          </a:bodyPr>
          <a:lstStyle/>
          <a:p>
            <a:pPr>
              <a:spcAft>
                <a:spcPts val="800"/>
              </a:spcAft>
              <a:defRPr sz="1100" b="1">
                <a:solidFill>
                  <a:srgbClr val="607066"/>
                </a:solidFill>
                <a:latin typeface="Liberation Sans"/>
              </a:defRPr>
            </a:pPr>
            <a:r>
              <a:t>THE DECISION LOOP</a:t>
            </a:r>
          </a:p>
        </p:txBody>
      </p:sp>
      <p:sp>
        <p:nvSpPr>
          <p:cNvPr id="4" name="TextBox 3"/>
          <p:cNvSpPr txBox="1"/>
          <p:nvPr/>
        </p:nvSpPr>
        <p:spPr>
          <a:xfrm>
            <a:off x="594360" y="960120"/>
            <a:ext cx="10972800" cy="822960"/>
          </a:xfrm>
          <a:prstGeom prst="rect">
            <a:avLst/>
          </a:prstGeom>
          <a:noFill/>
        </p:spPr>
        <p:txBody>
          <a:bodyPr wrap="square" lIns="0" rIns="0" tIns="0" bIns="0">
            <a:spAutoFit/>
          </a:bodyPr>
          <a:lstStyle/>
          <a:p>
            <a:pPr>
              <a:spcAft>
                <a:spcPts val="800"/>
              </a:spcAft>
              <a:defRPr sz="3500" b="0">
                <a:solidFill>
                  <a:srgbClr val="24382F"/>
                </a:solidFill>
                <a:latin typeface="Liberation Serif"/>
              </a:defRPr>
            </a:pPr>
            <a:r>
              <a:t>Listen. Decide. Confirm.</a:t>
            </a:r>
          </a:p>
        </p:txBody>
      </p:sp>
      <p:sp>
        <p:nvSpPr>
          <p:cNvPr id="5" name="TextBox 4"/>
          <p:cNvSpPr txBox="1"/>
          <p:nvPr/>
        </p:nvSpPr>
        <p:spPr>
          <a:xfrm>
            <a:off x="621792" y="6473952"/>
            <a:ext cx="10058400" cy="201168"/>
          </a:xfrm>
          <a:prstGeom prst="rect">
            <a:avLst/>
          </a:prstGeom>
          <a:noFill/>
        </p:spPr>
        <p:txBody>
          <a:bodyPr wrap="square" lIns="0" rIns="0" tIns="0" bIns="0">
            <a:spAutoFit/>
          </a:bodyPr>
          <a:lstStyle/>
          <a:p>
            <a:pPr>
              <a:spcAft>
                <a:spcPts val="800"/>
              </a:spcAft>
              <a:defRPr sz="900" b="0">
                <a:solidFill>
                  <a:srgbClr val="607066"/>
                </a:solidFill>
                <a:latin typeface="Liberation Sans"/>
              </a:defRPr>
            </a:pPr>
            <a:r>
              <a:t>Talk Me Home · Historical real Voice + new Practice · different builds, separately labelled</a:t>
            </a:r>
          </a:p>
        </p:txBody>
      </p:sp>
      <p:sp>
        <p:nvSpPr>
          <p:cNvPr id="6" name="TextBox 5"/>
          <p:cNvSpPr txBox="1"/>
          <p:nvPr/>
        </p:nvSpPr>
        <p:spPr>
          <a:xfrm>
            <a:off x="10881360" y="6446520"/>
            <a:ext cx="731520" cy="274320"/>
          </a:xfrm>
          <a:prstGeom prst="rect">
            <a:avLst/>
          </a:prstGeom>
          <a:noFill/>
        </p:spPr>
        <p:txBody>
          <a:bodyPr wrap="square" lIns="0" rIns="0" tIns="0" bIns="0">
            <a:spAutoFit/>
          </a:bodyPr>
          <a:lstStyle/>
          <a:p>
            <a:pPr>
              <a:spcAft>
                <a:spcPts val="800"/>
              </a:spcAft>
              <a:defRPr sz="1000" b="0">
                <a:solidFill>
                  <a:srgbClr val="607066"/>
                </a:solidFill>
                <a:latin typeface="Liberation Sans"/>
              </a:defRPr>
            </a:pPr>
            <a:r>
              <a:t>03 / 06</a:t>
            </a:r>
          </a:p>
        </p:txBody>
      </p:sp>
      <p:pic>
        <p:nvPicPr>
          <p:cNvPr id="7" name="Picture 6" descr="historical-gallery.png"/>
          <p:cNvPicPr>
            <a:picLocks noChangeAspect="1"/>
          </p:cNvPicPr>
          <p:nvPr/>
        </p:nvPicPr>
        <p:blipFill>
          <a:blip r:embed="rId2"/>
          <a:stretch>
            <a:fillRect/>
          </a:stretch>
        </p:blipFill>
        <p:spPr>
          <a:xfrm>
            <a:off x="1170431" y="2011680"/>
            <a:ext cx="6803136" cy="4251960"/>
          </a:xfrm>
          <a:prstGeom prst="rect">
            <a:avLst/>
          </a:prstGeom>
        </p:spPr>
      </p:pic>
      <p:sp>
        <p:nvSpPr>
          <p:cNvPr id="8" name="TextBox 7"/>
          <p:cNvSpPr txBox="1"/>
          <p:nvPr/>
        </p:nvSpPr>
        <p:spPr>
          <a:xfrm>
            <a:off x="8823960" y="2267712"/>
            <a:ext cx="2743200" cy="365760"/>
          </a:xfrm>
          <a:prstGeom prst="rect">
            <a:avLst/>
          </a:prstGeom>
          <a:noFill/>
        </p:spPr>
        <p:txBody>
          <a:bodyPr wrap="square" lIns="0" rIns="0" tIns="0" bIns="0">
            <a:spAutoFit/>
          </a:bodyPr>
          <a:lstStyle/>
          <a:p>
            <a:pPr>
              <a:spcAft>
                <a:spcPts val="800"/>
              </a:spcAft>
              <a:defRPr sz="1400" b="1">
                <a:solidFill>
                  <a:srgbClr val="557862"/>
                </a:solidFill>
                <a:latin typeface="Liberation Sans"/>
              </a:defRPr>
            </a:pPr>
            <a:r>
              <a:t>1  LISTEN</a:t>
            </a:r>
          </a:p>
        </p:txBody>
      </p:sp>
      <p:sp>
        <p:nvSpPr>
          <p:cNvPr id="9" name="TextBox 8"/>
          <p:cNvSpPr txBox="1"/>
          <p:nvPr/>
        </p:nvSpPr>
        <p:spPr>
          <a:xfrm>
            <a:off x="8823960" y="2706624"/>
            <a:ext cx="2743200" cy="914400"/>
          </a:xfrm>
          <a:prstGeom prst="rect">
            <a:avLst/>
          </a:prstGeom>
          <a:noFill/>
        </p:spPr>
        <p:txBody>
          <a:bodyPr wrap="square" lIns="0" rIns="0" tIns="0" bIns="0">
            <a:spAutoFit/>
          </a:bodyPr>
          <a:lstStyle/>
          <a:p>
            <a:pPr>
              <a:spcAft>
                <a:spcPts val="800"/>
              </a:spcAft>
              <a:defRPr sz="2100" b="0">
                <a:solidFill>
                  <a:srgbClr val="24382F"/>
                </a:solidFill>
                <a:latin typeface="Liberation Sans"/>
              </a:defRPr>
            </a:pPr>
            <a:r>
              <a:t>“there is cargo</a:t>
            </a:r>
          </a:p>
          <a:p>
            <a:pPr>
              <a:spcAft>
                <a:spcPts val="800"/>
              </a:spcAft>
              <a:defRPr sz="2100" b="0">
                <a:solidFill>
                  <a:srgbClr val="24382F"/>
                </a:solidFill>
                <a:latin typeface="Liberation Sans"/>
              </a:defRPr>
            </a:pPr>
            <a:r>
              <a:t>blocking the opening.”</a:t>
            </a:r>
          </a:p>
        </p:txBody>
      </p:sp>
      <p:sp>
        <p:nvSpPr>
          <p:cNvPr id="10" name="TextBox 9"/>
          <p:cNvSpPr txBox="1"/>
          <p:nvPr/>
        </p:nvSpPr>
        <p:spPr>
          <a:xfrm>
            <a:off x="8823960" y="3776472"/>
            <a:ext cx="2743200" cy="365760"/>
          </a:xfrm>
          <a:prstGeom prst="rect">
            <a:avLst/>
          </a:prstGeom>
          <a:noFill/>
        </p:spPr>
        <p:txBody>
          <a:bodyPr wrap="square" lIns="0" rIns="0" tIns="0" bIns="0">
            <a:spAutoFit/>
          </a:bodyPr>
          <a:lstStyle/>
          <a:p>
            <a:pPr>
              <a:spcAft>
                <a:spcPts val="800"/>
              </a:spcAft>
              <a:defRPr sz="1400" b="1">
                <a:solidFill>
                  <a:srgbClr val="557862"/>
                </a:solidFill>
                <a:latin typeface="Liberation Sans"/>
              </a:defRPr>
            </a:pPr>
            <a:r>
              <a:t>2  REVISE</a:t>
            </a:r>
          </a:p>
        </p:txBody>
      </p:sp>
      <p:sp>
        <p:nvSpPr>
          <p:cNvPr id="11" name="TextBox 10"/>
          <p:cNvSpPr txBox="1"/>
          <p:nvPr/>
        </p:nvSpPr>
        <p:spPr>
          <a:xfrm>
            <a:off x="8823960" y="4169663"/>
            <a:ext cx="2743200" cy="777240"/>
          </a:xfrm>
          <a:prstGeom prst="rect">
            <a:avLst/>
          </a:prstGeom>
          <a:noFill/>
        </p:spPr>
        <p:txBody>
          <a:bodyPr wrap="square" lIns="0" rIns="0" tIns="0" bIns="0">
            <a:spAutoFit/>
          </a:bodyPr>
          <a:lstStyle/>
          <a:p>
            <a:pPr>
              <a:spcAft>
                <a:spcPts val="800"/>
              </a:spcAft>
              <a:defRPr sz="2100" b="0">
                <a:solidFill>
                  <a:srgbClr val="24382F"/>
                </a:solidFill>
                <a:latin typeface="Liberation Sans"/>
              </a:defRPr>
            </a:pPr>
            <a:r>
              <a:t>Check the southwest</a:t>
            </a:r>
          </a:p>
          <a:p>
            <a:pPr>
              <a:spcAft>
                <a:spcPts val="800"/>
              </a:spcAft>
              <a:defRPr sz="2100" b="0">
                <a:solidFill>
                  <a:srgbClr val="24382F"/>
                </a:solidFill>
                <a:latin typeface="Liberation Sans"/>
              </a:defRPr>
            </a:pPr>
            <a:r>
              <a:t>passage. Backtrack.</a:t>
            </a:r>
          </a:p>
        </p:txBody>
      </p:sp>
      <p:sp>
        <p:nvSpPr>
          <p:cNvPr id="12" name="TextBox 11"/>
          <p:cNvSpPr txBox="1"/>
          <p:nvPr/>
        </p:nvSpPr>
        <p:spPr>
          <a:xfrm>
            <a:off x="8823960" y="5294376"/>
            <a:ext cx="2743200" cy="365760"/>
          </a:xfrm>
          <a:prstGeom prst="rect">
            <a:avLst/>
          </a:prstGeom>
          <a:noFill/>
        </p:spPr>
        <p:txBody>
          <a:bodyPr wrap="square" lIns="0" rIns="0" tIns="0" bIns="0">
            <a:spAutoFit/>
          </a:bodyPr>
          <a:lstStyle/>
          <a:p>
            <a:pPr>
              <a:spcAft>
                <a:spcPts val="800"/>
              </a:spcAft>
              <a:defRPr sz="1400" b="1">
                <a:solidFill>
                  <a:srgbClr val="557862"/>
                </a:solidFill>
                <a:latin typeface="Liberation Sans"/>
              </a:defRPr>
            </a:pPr>
            <a:r>
              <a:t>3  CONFIRM</a:t>
            </a:r>
          </a:p>
        </p:txBody>
      </p:sp>
      <p:sp>
        <p:nvSpPr>
          <p:cNvPr id="13" name="TextBox 12"/>
          <p:cNvSpPr txBox="1"/>
          <p:nvPr/>
        </p:nvSpPr>
        <p:spPr>
          <a:xfrm>
            <a:off x="8823960" y="5687568"/>
            <a:ext cx="2743200" cy="365760"/>
          </a:xfrm>
          <a:prstGeom prst="rect">
            <a:avLst/>
          </a:prstGeom>
          <a:noFill/>
        </p:spPr>
        <p:txBody>
          <a:bodyPr wrap="square" lIns="0" rIns="0" tIns="0" bIns="0">
            <a:spAutoFit/>
          </a:bodyPr>
          <a:lstStyle/>
          <a:p>
            <a:pPr>
              <a:spcAft>
                <a:spcPts val="800"/>
              </a:spcAft>
              <a:defRPr sz="1700" b="0">
                <a:solidFill>
                  <a:srgbClr val="24382F"/>
                </a:solidFill>
                <a:latin typeface="Liberation Sans"/>
              </a:defRPr>
            </a:pPr>
            <a:r>
              <a:t>Commit the exact move.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EFE2"/>
        </a:solidFill>
        <a:effectLst/>
      </p:bgPr>
    </p:bg>
    <p:spTree>
      <p:nvGrpSpPr>
        <p:cNvPr id="1" name=""/>
        <p:cNvGrpSpPr/>
        <p:nvPr/>
      </p:nvGrpSpPr>
      <p:grpSpPr/>
      <p:sp>
        <p:nvSpPr>
          <p:cNvPr id="2" name="Rectangle 1"/>
          <p:cNvSpPr/>
          <p:nvPr/>
        </p:nvSpPr>
        <p:spPr>
          <a:xfrm>
            <a:off x="594360" y="457200"/>
            <a:ext cx="411480" cy="41148"/>
          </a:xfrm>
          <a:prstGeom prst="rect">
            <a:avLst/>
          </a:prstGeom>
          <a:solidFill>
            <a:srgbClr val="B58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33856" y="365760"/>
            <a:ext cx="10058400" cy="320040"/>
          </a:xfrm>
          <a:prstGeom prst="rect">
            <a:avLst/>
          </a:prstGeom>
          <a:noFill/>
        </p:spPr>
        <p:txBody>
          <a:bodyPr wrap="square" lIns="0" rIns="0" tIns="0" bIns="0">
            <a:spAutoFit/>
          </a:bodyPr>
          <a:lstStyle/>
          <a:p>
            <a:pPr>
              <a:spcAft>
                <a:spcPts val="800"/>
              </a:spcAft>
              <a:defRPr sz="1100" b="1">
                <a:solidFill>
                  <a:srgbClr val="607066"/>
                </a:solidFill>
                <a:latin typeface="Liberation Sans"/>
              </a:defRPr>
            </a:pPr>
            <a:r>
              <a:t>AN ARC WITH CONSEQUENCES</a:t>
            </a:r>
          </a:p>
        </p:txBody>
      </p:sp>
      <p:sp>
        <p:nvSpPr>
          <p:cNvPr id="4" name="TextBox 3"/>
          <p:cNvSpPr txBox="1"/>
          <p:nvPr/>
        </p:nvSpPr>
        <p:spPr>
          <a:xfrm>
            <a:off x="594360" y="960120"/>
            <a:ext cx="10972800" cy="822960"/>
          </a:xfrm>
          <a:prstGeom prst="rect">
            <a:avLst/>
          </a:prstGeom>
          <a:noFill/>
        </p:spPr>
        <p:txBody>
          <a:bodyPr wrap="square" lIns="0" rIns="0" tIns="0" bIns="0">
            <a:spAutoFit/>
          </a:bodyPr>
          <a:lstStyle/>
          <a:p>
            <a:pPr>
              <a:spcAft>
                <a:spcPts val="800"/>
              </a:spcAft>
              <a:defRPr sz="3500" b="0">
                <a:solidFill>
                  <a:srgbClr val="24382F"/>
                </a:solidFill>
                <a:latin typeface="Liberation Serif"/>
              </a:defRPr>
            </a:pPr>
            <a:r>
              <a:t>Three chapters, one rescue.</a:t>
            </a:r>
          </a:p>
        </p:txBody>
      </p:sp>
      <p:sp>
        <p:nvSpPr>
          <p:cNvPr id="5" name="TextBox 4"/>
          <p:cNvSpPr txBox="1"/>
          <p:nvPr/>
        </p:nvSpPr>
        <p:spPr>
          <a:xfrm>
            <a:off x="621792" y="6473952"/>
            <a:ext cx="10058400" cy="201168"/>
          </a:xfrm>
          <a:prstGeom prst="rect">
            <a:avLst/>
          </a:prstGeom>
          <a:noFill/>
        </p:spPr>
        <p:txBody>
          <a:bodyPr wrap="square" lIns="0" rIns="0" tIns="0" bIns="0">
            <a:spAutoFit/>
          </a:bodyPr>
          <a:lstStyle/>
          <a:p>
            <a:pPr>
              <a:spcAft>
                <a:spcPts val="800"/>
              </a:spcAft>
              <a:defRPr sz="900" b="0">
                <a:solidFill>
                  <a:srgbClr val="607066"/>
                </a:solidFill>
                <a:latin typeface="Liberation Sans"/>
              </a:defRPr>
            </a:pPr>
            <a:r>
              <a:t>Talk Me Home · Historical real Voice + new Practice · different builds, separately labelled</a:t>
            </a:r>
          </a:p>
        </p:txBody>
      </p:sp>
      <p:sp>
        <p:nvSpPr>
          <p:cNvPr id="6" name="TextBox 5"/>
          <p:cNvSpPr txBox="1"/>
          <p:nvPr/>
        </p:nvSpPr>
        <p:spPr>
          <a:xfrm>
            <a:off x="10881360" y="6446520"/>
            <a:ext cx="731520" cy="274320"/>
          </a:xfrm>
          <a:prstGeom prst="rect">
            <a:avLst/>
          </a:prstGeom>
          <a:noFill/>
        </p:spPr>
        <p:txBody>
          <a:bodyPr wrap="square" lIns="0" rIns="0" tIns="0" bIns="0">
            <a:spAutoFit/>
          </a:bodyPr>
          <a:lstStyle/>
          <a:p>
            <a:pPr>
              <a:spcAft>
                <a:spcPts val="800"/>
              </a:spcAft>
              <a:defRPr sz="1000" b="0">
                <a:solidFill>
                  <a:srgbClr val="607066"/>
                </a:solidFill>
                <a:latin typeface="Liberation Sans"/>
              </a:defRPr>
            </a:pPr>
            <a:r>
              <a:t>04 / 06</a:t>
            </a:r>
          </a:p>
        </p:txBody>
      </p:sp>
      <p:sp>
        <p:nvSpPr>
          <p:cNvPr id="7" name="TextBox 6"/>
          <p:cNvSpPr txBox="1"/>
          <p:nvPr/>
        </p:nvSpPr>
        <p:spPr>
          <a:xfrm>
            <a:off x="658368" y="2084831"/>
            <a:ext cx="502920" cy="365760"/>
          </a:xfrm>
          <a:prstGeom prst="rect">
            <a:avLst/>
          </a:prstGeom>
          <a:noFill/>
        </p:spPr>
        <p:txBody>
          <a:bodyPr wrap="square" lIns="0" rIns="0" tIns="0" bIns="0">
            <a:spAutoFit/>
          </a:bodyPr>
          <a:lstStyle/>
          <a:p>
            <a:pPr>
              <a:spcAft>
                <a:spcPts val="800"/>
              </a:spcAft>
              <a:defRPr sz="1500" b="1">
                <a:solidFill>
                  <a:srgbClr val="557862"/>
                </a:solidFill>
                <a:latin typeface="Liberation Sans"/>
              </a:defRPr>
            </a:pPr>
            <a:r>
              <a:t>01</a:t>
            </a:r>
          </a:p>
        </p:txBody>
      </p:sp>
      <p:sp>
        <p:nvSpPr>
          <p:cNvPr id="8" name="TextBox 7"/>
          <p:cNvSpPr txBox="1"/>
          <p:nvPr/>
        </p:nvSpPr>
        <p:spPr>
          <a:xfrm>
            <a:off x="1280160" y="2084831"/>
            <a:ext cx="4206240" cy="438912"/>
          </a:xfrm>
          <a:prstGeom prst="rect">
            <a:avLst/>
          </a:prstGeom>
          <a:noFill/>
        </p:spPr>
        <p:txBody>
          <a:bodyPr wrap="square" lIns="0" rIns="0" tIns="0" bIns="0">
            <a:spAutoFit/>
          </a:bodyPr>
          <a:lstStyle/>
          <a:p>
            <a:pPr>
              <a:spcAft>
                <a:spcPts val="800"/>
              </a:spcAft>
              <a:defRPr sz="2400" b="0">
                <a:solidFill>
                  <a:srgbClr val="24382F"/>
                </a:solidFill>
                <a:latin typeface="Liberation Serif"/>
              </a:defRPr>
            </a:pPr>
            <a:r>
              <a:t>Cargo Bay</a:t>
            </a:r>
          </a:p>
        </p:txBody>
      </p:sp>
      <p:sp>
        <p:nvSpPr>
          <p:cNvPr id="9" name="TextBox 8"/>
          <p:cNvSpPr txBox="1"/>
          <p:nvPr/>
        </p:nvSpPr>
        <p:spPr>
          <a:xfrm>
            <a:off x="1280160" y="2542032"/>
            <a:ext cx="4251960" cy="502920"/>
          </a:xfrm>
          <a:prstGeom prst="rect">
            <a:avLst/>
          </a:prstGeom>
          <a:noFill/>
        </p:spPr>
        <p:txBody>
          <a:bodyPr wrap="square" lIns="0" rIns="0" tIns="0" bIns="0">
            <a:spAutoFit/>
          </a:bodyPr>
          <a:lstStyle/>
          <a:p>
            <a:pPr>
              <a:spcAft>
                <a:spcPts val="800"/>
              </a:spcAft>
              <a:defRPr sz="1600" b="0">
                <a:solidFill>
                  <a:srgbClr val="24382F"/>
                </a:solidFill>
                <a:latin typeface="Liberation Sans"/>
              </a:defRPr>
            </a:pPr>
            <a:r>
              <a:t>Discover the shared supply.</a:t>
            </a:r>
          </a:p>
        </p:txBody>
      </p:sp>
      <p:sp>
        <p:nvSpPr>
          <p:cNvPr id="10" name="TextBox 9"/>
          <p:cNvSpPr txBox="1"/>
          <p:nvPr/>
        </p:nvSpPr>
        <p:spPr>
          <a:xfrm>
            <a:off x="658368" y="3090672"/>
            <a:ext cx="502920" cy="365760"/>
          </a:xfrm>
          <a:prstGeom prst="rect">
            <a:avLst/>
          </a:prstGeom>
          <a:noFill/>
        </p:spPr>
        <p:txBody>
          <a:bodyPr wrap="square" lIns="0" rIns="0" tIns="0" bIns="0">
            <a:spAutoFit/>
          </a:bodyPr>
          <a:lstStyle/>
          <a:p>
            <a:pPr>
              <a:spcAft>
                <a:spcPts val="800"/>
              </a:spcAft>
              <a:defRPr sz="1500" b="1">
                <a:solidFill>
                  <a:srgbClr val="557862"/>
                </a:solidFill>
                <a:latin typeface="Liberation Sans"/>
              </a:defRPr>
            </a:pPr>
            <a:r>
              <a:t>02</a:t>
            </a:r>
          </a:p>
        </p:txBody>
      </p:sp>
      <p:sp>
        <p:nvSpPr>
          <p:cNvPr id="11" name="TextBox 10"/>
          <p:cNvSpPr txBox="1"/>
          <p:nvPr/>
        </p:nvSpPr>
        <p:spPr>
          <a:xfrm>
            <a:off x="1280160" y="3090672"/>
            <a:ext cx="4206240" cy="438912"/>
          </a:xfrm>
          <a:prstGeom prst="rect">
            <a:avLst/>
          </a:prstGeom>
          <a:noFill/>
        </p:spPr>
        <p:txBody>
          <a:bodyPr wrap="square" lIns="0" rIns="0" tIns="0" bIns="0">
            <a:spAutoFit/>
          </a:bodyPr>
          <a:lstStyle/>
          <a:p>
            <a:pPr>
              <a:spcAft>
                <a:spcPts val="800"/>
              </a:spcAft>
              <a:defRPr sz="2400" b="0">
                <a:solidFill>
                  <a:srgbClr val="24382F"/>
                </a:solidFill>
                <a:latin typeface="Liberation Serif"/>
              </a:defRPr>
            </a:pPr>
            <a:r>
              <a:t>Relay Gallery</a:t>
            </a:r>
          </a:p>
        </p:txBody>
      </p:sp>
      <p:sp>
        <p:nvSpPr>
          <p:cNvPr id="12" name="TextBox 11"/>
          <p:cNvSpPr txBox="1"/>
          <p:nvPr/>
        </p:nvSpPr>
        <p:spPr>
          <a:xfrm>
            <a:off x="1280160" y="3547872"/>
            <a:ext cx="4251960" cy="502920"/>
          </a:xfrm>
          <a:prstGeom prst="rect">
            <a:avLst/>
          </a:prstGeom>
          <a:noFill/>
        </p:spPr>
        <p:txBody>
          <a:bodyPr wrap="square" lIns="0" rIns="0" tIns="0" bIns="0">
            <a:spAutoFit/>
          </a:bodyPr>
          <a:lstStyle/>
          <a:p>
            <a:pPr>
              <a:spcAft>
                <a:spcPts val="800"/>
              </a:spcAft>
              <a:defRPr sz="1600" b="0">
                <a:solidFill>
                  <a:srgbClr val="24382F"/>
                </a:solidFill>
                <a:latin typeface="Liberation Sans"/>
              </a:defRPr>
            </a:pPr>
            <a:r>
              <a:t>A reported obstruction changes your route.</a:t>
            </a:r>
          </a:p>
        </p:txBody>
      </p:sp>
      <p:sp>
        <p:nvSpPr>
          <p:cNvPr id="13" name="TextBox 12"/>
          <p:cNvSpPr txBox="1"/>
          <p:nvPr/>
        </p:nvSpPr>
        <p:spPr>
          <a:xfrm>
            <a:off x="658368" y="4096512"/>
            <a:ext cx="502920" cy="365760"/>
          </a:xfrm>
          <a:prstGeom prst="rect">
            <a:avLst/>
          </a:prstGeom>
          <a:noFill/>
        </p:spPr>
        <p:txBody>
          <a:bodyPr wrap="square" lIns="0" rIns="0" tIns="0" bIns="0">
            <a:spAutoFit/>
          </a:bodyPr>
          <a:lstStyle/>
          <a:p>
            <a:pPr>
              <a:spcAft>
                <a:spcPts val="800"/>
              </a:spcAft>
              <a:defRPr sz="1500" b="1">
                <a:solidFill>
                  <a:srgbClr val="557862"/>
                </a:solidFill>
                <a:latin typeface="Liberation Sans"/>
              </a:defRPr>
            </a:pPr>
            <a:r>
              <a:t>03</a:t>
            </a:r>
          </a:p>
        </p:txBody>
      </p:sp>
      <p:sp>
        <p:nvSpPr>
          <p:cNvPr id="14" name="TextBox 13"/>
          <p:cNvSpPr txBox="1"/>
          <p:nvPr/>
        </p:nvSpPr>
        <p:spPr>
          <a:xfrm>
            <a:off x="1280160" y="4096512"/>
            <a:ext cx="4206240" cy="438912"/>
          </a:xfrm>
          <a:prstGeom prst="rect">
            <a:avLst/>
          </a:prstGeom>
          <a:noFill/>
        </p:spPr>
        <p:txBody>
          <a:bodyPr wrap="square" lIns="0" rIns="0" tIns="0" bIns="0">
            <a:spAutoFit/>
          </a:bodyPr>
          <a:lstStyle/>
          <a:p>
            <a:pPr>
              <a:spcAft>
                <a:spcPts val="800"/>
              </a:spcAft>
              <a:defRPr sz="2400" b="0">
                <a:solidFill>
                  <a:srgbClr val="24382F"/>
                </a:solidFill>
                <a:latin typeface="Liberation Serif"/>
              </a:defRPr>
            </a:pPr>
            <a:r>
              <a:t>Return Dock</a:t>
            </a:r>
          </a:p>
        </p:txBody>
      </p:sp>
      <p:sp>
        <p:nvSpPr>
          <p:cNvPr id="15" name="TextBox 14"/>
          <p:cNvSpPr txBox="1"/>
          <p:nvPr/>
        </p:nvSpPr>
        <p:spPr>
          <a:xfrm>
            <a:off x="1280160" y="4553712"/>
            <a:ext cx="4251960" cy="502920"/>
          </a:xfrm>
          <a:prstGeom prst="rect">
            <a:avLst/>
          </a:prstGeom>
          <a:noFill/>
        </p:spPr>
        <p:txBody>
          <a:bodyPr wrap="square" lIns="0" rIns="0" tIns="0" bIns="0">
            <a:spAutoFit/>
          </a:bodyPr>
          <a:lstStyle/>
          <a:p>
            <a:pPr>
              <a:spcAft>
                <a:spcPts val="800"/>
              </a:spcAft>
              <a:defRPr sz="1600" b="0">
                <a:solidFill>
                  <a:srgbClr val="24382F"/>
                </a:solidFill>
                <a:latin typeface="Liberation Sans"/>
              </a:defRPr>
            </a:pPr>
            <a:r>
              <a:t>Hold, charge, store — then return together.</a:t>
            </a:r>
          </a:p>
        </p:txBody>
      </p:sp>
      <p:sp>
        <p:nvSpPr>
          <p:cNvPr id="16" name="TextBox 15"/>
          <p:cNvSpPr txBox="1"/>
          <p:nvPr/>
        </p:nvSpPr>
        <p:spPr>
          <a:xfrm>
            <a:off x="5989320" y="2057400"/>
            <a:ext cx="5394960" cy="320040"/>
          </a:xfrm>
          <a:prstGeom prst="rect">
            <a:avLst/>
          </a:prstGeom>
          <a:noFill/>
        </p:spPr>
        <p:txBody>
          <a:bodyPr wrap="square" lIns="0" rIns="0" tIns="0" bIns="0">
            <a:spAutoFit/>
          </a:bodyPr>
          <a:lstStyle/>
          <a:p>
            <a:pPr>
              <a:spcAft>
                <a:spcPts val="800"/>
              </a:spcAft>
              <a:defRPr sz="1300" b="1">
                <a:solidFill>
                  <a:srgbClr val="557862"/>
                </a:solidFill>
                <a:latin typeface="Liberation Sans"/>
              </a:defRPr>
            </a:pPr>
            <a:r>
              <a:t>PRACTICE · NEW GAMEPLAY BUILD</a:t>
            </a:r>
          </a:p>
        </p:txBody>
      </p:sp>
      <p:pic>
        <p:nvPicPr>
          <p:cNvPr id="17" name="Picture 16" descr="home-1440.png"/>
          <p:cNvPicPr>
            <a:picLocks noChangeAspect="1"/>
          </p:cNvPicPr>
          <p:nvPr/>
        </p:nvPicPr>
        <p:blipFill>
          <a:blip r:embed="rId2"/>
          <a:stretch>
            <a:fillRect/>
          </a:stretch>
        </p:blipFill>
        <p:spPr>
          <a:xfrm>
            <a:off x="6133795" y="2560320"/>
            <a:ext cx="5179161" cy="3236975"/>
          </a:xfrm>
          <a:prstGeom prst="rect">
            <a:avLst/>
          </a:prstGeom>
        </p:spPr>
      </p:pic>
      <p:sp>
        <p:nvSpPr>
          <p:cNvPr id="18" name="TextBox 17"/>
          <p:cNvSpPr txBox="1"/>
          <p:nvPr/>
        </p:nvSpPr>
        <p:spPr>
          <a:xfrm>
            <a:off x="667512" y="5504688"/>
            <a:ext cx="5303520" cy="448056"/>
          </a:xfrm>
          <a:prstGeom prst="rect">
            <a:avLst/>
          </a:prstGeom>
          <a:noFill/>
        </p:spPr>
        <p:txBody>
          <a:bodyPr wrap="square" lIns="0" rIns="0" tIns="0" bIns="0">
            <a:spAutoFit/>
          </a:bodyPr>
          <a:lstStyle/>
          <a:p>
            <a:pPr>
              <a:spcAft>
                <a:spcPts val="800"/>
              </a:spcAft>
              <a:defRPr sz="2000" b="1">
                <a:solidFill>
                  <a:srgbClr val="557862"/>
                </a:solidFill>
                <a:latin typeface="Liberation Sans"/>
              </a:defRPr>
            </a:pPr>
            <a:r>
              <a:t>Optional: bring back Pip’s flight recorder.</a:t>
            </a:r>
          </a:p>
        </p:txBody>
      </p:sp>
      <p:sp>
        <p:nvSpPr>
          <p:cNvPr id="19" name="TextBox 18"/>
          <p:cNvSpPr txBox="1"/>
          <p:nvPr/>
        </p:nvSpPr>
        <p:spPr>
          <a:xfrm>
            <a:off x="667512" y="5998464"/>
            <a:ext cx="10789920" cy="310896"/>
          </a:xfrm>
          <a:prstGeom prst="rect">
            <a:avLst/>
          </a:prstGeom>
          <a:noFill/>
        </p:spPr>
        <p:txBody>
          <a:bodyPr wrap="square" lIns="0" rIns="0" tIns="0" bIns="0">
            <a:spAutoFit/>
          </a:bodyPr>
          <a:lstStyle/>
          <a:p>
            <a:pPr>
              <a:spcAft>
                <a:spcPts val="800"/>
              </a:spcAft>
              <a:defRPr sz="1600" b="0">
                <a:solidFill>
                  <a:srgbClr val="24382F"/>
                </a:solidFill>
                <a:latin typeface="Liberation Sans"/>
              </a:defRPr>
            </a:pPr>
            <a:r>
              <a:t>Go home directly, or visit the archive. Only a confirmed pickup changes the shelf.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EFE2"/>
        </a:solidFill>
        <a:effectLst/>
      </p:bgPr>
    </p:bg>
    <p:spTree>
      <p:nvGrpSpPr>
        <p:cNvPr id="1" name=""/>
        <p:cNvGrpSpPr/>
        <p:nvPr/>
      </p:nvGrpSpPr>
      <p:grpSpPr/>
      <p:sp>
        <p:nvSpPr>
          <p:cNvPr id="2" name="Rectangle 1"/>
          <p:cNvSpPr/>
          <p:nvPr/>
        </p:nvSpPr>
        <p:spPr>
          <a:xfrm>
            <a:off x="594360" y="457200"/>
            <a:ext cx="411480" cy="41148"/>
          </a:xfrm>
          <a:prstGeom prst="rect">
            <a:avLst/>
          </a:prstGeom>
          <a:solidFill>
            <a:srgbClr val="B58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33856" y="365760"/>
            <a:ext cx="10058400" cy="320040"/>
          </a:xfrm>
          <a:prstGeom prst="rect">
            <a:avLst/>
          </a:prstGeom>
          <a:noFill/>
        </p:spPr>
        <p:txBody>
          <a:bodyPr wrap="square" lIns="0" rIns="0" tIns="0" bIns="0">
            <a:spAutoFit/>
          </a:bodyPr>
          <a:lstStyle/>
          <a:p>
            <a:pPr>
              <a:spcAft>
                <a:spcPts val="800"/>
              </a:spcAft>
              <a:defRPr sz="1100" b="1">
                <a:solidFill>
                  <a:srgbClr val="607066"/>
                </a:solidFill>
                <a:latin typeface="Liberation Sans"/>
              </a:defRPr>
            </a:pPr>
            <a:r>
              <a:t>ASSEMBLYAI CONTRIBUTION</a:t>
            </a:r>
          </a:p>
        </p:txBody>
      </p:sp>
      <p:sp>
        <p:nvSpPr>
          <p:cNvPr id="4" name="TextBox 3"/>
          <p:cNvSpPr txBox="1"/>
          <p:nvPr/>
        </p:nvSpPr>
        <p:spPr>
          <a:xfrm>
            <a:off x="594360" y="960120"/>
            <a:ext cx="10972800" cy="822960"/>
          </a:xfrm>
          <a:prstGeom prst="rect">
            <a:avLst/>
          </a:prstGeom>
          <a:noFill/>
        </p:spPr>
        <p:txBody>
          <a:bodyPr wrap="square" lIns="0" rIns="0" tIns="0" bIns="0">
            <a:spAutoFit/>
          </a:bodyPr>
          <a:lstStyle/>
          <a:p>
            <a:pPr>
              <a:spcAft>
                <a:spcPts val="800"/>
              </a:spcAft>
              <a:defRPr sz="3500" b="0">
                <a:solidFill>
                  <a:srgbClr val="24382F"/>
                </a:solidFill>
                <a:latin typeface="Liberation Serif"/>
              </a:defRPr>
            </a:pPr>
            <a:r>
              <a:t>Voice makes the partner possible.</a:t>
            </a:r>
          </a:p>
        </p:txBody>
      </p:sp>
      <p:sp>
        <p:nvSpPr>
          <p:cNvPr id="5" name="TextBox 4"/>
          <p:cNvSpPr txBox="1"/>
          <p:nvPr/>
        </p:nvSpPr>
        <p:spPr>
          <a:xfrm>
            <a:off x="621792" y="6473952"/>
            <a:ext cx="10058400" cy="201168"/>
          </a:xfrm>
          <a:prstGeom prst="rect">
            <a:avLst/>
          </a:prstGeom>
          <a:noFill/>
        </p:spPr>
        <p:txBody>
          <a:bodyPr wrap="square" lIns="0" rIns="0" tIns="0" bIns="0">
            <a:spAutoFit/>
          </a:bodyPr>
          <a:lstStyle/>
          <a:p>
            <a:pPr>
              <a:spcAft>
                <a:spcPts val="800"/>
              </a:spcAft>
              <a:defRPr sz="900" b="0">
                <a:solidFill>
                  <a:srgbClr val="607066"/>
                </a:solidFill>
                <a:latin typeface="Liberation Sans"/>
              </a:defRPr>
            </a:pPr>
            <a:r>
              <a:t>Talk Me Home · Historical real Voice + new Practice · different builds, separately labelled</a:t>
            </a:r>
          </a:p>
        </p:txBody>
      </p:sp>
      <p:sp>
        <p:nvSpPr>
          <p:cNvPr id="6" name="TextBox 5"/>
          <p:cNvSpPr txBox="1"/>
          <p:nvPr/>
        </p:nvSpPr>
        <p:spPr>
          <a:xfrm>
            <a:off x="10881360" y="6446520"/>
            <a:ext cx="731520" cy="274320"/>
          </a:xfrm>
          <a:prstGeom prst="rect">
            <a:avLst/>
          </a:prstGeom>
          <a:noFill/>
        </p:spPr>
        <p:txBody>
          <a:bodyPr wrap="square" lIns="0" rIns="0" tIns="0" bIns="0">
            <a:spAutoFit/>
          </a:bodyPr>
          <a:lstStyle/>
          <a:p>
            <a:pPr>
              <a:spcAft>
                <a:spcPts val="800"/>
              </a:spcAft>
              <a:defRPr sz="1000" b="0">
                <a:solidFill>
                  <a:srgbClr val="607066"/>
                </a:solidFill>
                <a:latin typeface="Liberation Sans"/>
              </a:defRPr>
            </a:pPr>
            <a:r>
              <a:t>05 / 06</a:t>
            </a:r>
          </a:p>
        </p:txBody>
      </p:sp>
      <p:sp>
        <p:nvSpPr>
          <p:cNvPr id="7" name="Rectangle 6"/>
          <p:cNvSpPr/>
          <p:nvPr/>
        </p:nvSpPr>
        <p:spPr>
          <a:xfrm>
            <a:off x="640080" y="2468880"/>
            <a:ext cx="1956816" cy="1188720"/>
          </a:xfrm>
          <a:prstGeom prst="rect">
            <a:avLst/>
          </a:prstGeom>
          <a:solidFill>
            <a:srgbClr val="E4E9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70048"/>
            <a:ext cx="1700784" cy="320040"/>
          </a:xfrm>
          <a:prstGeom prst="rect">
            <a:avLst/>
          </a:prstGeom>
          <a:noFill/>
        </p:spPr>
        <p:txBody>
          <a:bodyPr wrap="square" lIns="0" rIns="0" tIns="0" bIns="0">
            <a:spAutoFit/>
          </a:bodyPr>
          <a:lstStyle/>
          <a:p>
            <a:pPr>
              <a:spcAft>
                <a:spcPts val="800"/>
              </a:spcAft>
              <a:defRPr sz="1200" b="1">
                <a:solidFill>
                  <a:srgbClr val="557862"/>
                </a:solidFill>
                <a:latin typeface="Liberation Sans"/>
              </a:defRPr>
            </a:pPr>
            <a:r>
              <a:t>MICROPHONE</a:t>
            </a:r>
          </a:p>
        </p:txBody>
      </p:sp>
      <p:sp>
        <p:nvSpPr>
          <p:cNvPr id="9" name="TextBox 8"/>
          <p:cNvSpPr txBox="1"/>
          <p:nvPr/>
        </p:nvSpPr>
        <p:spPr>
          <a:xfrm>
            <a:off x="777240" y="3127248"/>
            <a:ext cx="1737360" cy="320040"/>
          </a:xfrm>
          <a:prstGeom prst="rect">
            <a:avLst/>
          </a:prstGeom>
          <a:noFill/>
        </p:spPr>
        <p:txBody>
          <a:bodyPr wrap="square" lIns="0" rIns="0" tIns="0" bIns="0">
            <a:spAutoFit/>
          </a:bodyPr>
          <a:lstStyle/>
          <a:p>
            <a:pPr>
              <a:spcAft>
                <a:spcPts val="800"/>
              </a:spcAft>
              <a:defRPr sz="1500" b="0">
                <a:solidFill>
                  <a:srgbClr val="24382F"/>
                </a:solidFill>
                <a:latin typeface="Liberation Sans"/>
              </a:defRPr>
            </a:pPr>
            <a:r>
              <a:t>Player speaks</a:t>
            </a:r>
          </a:p>
        </p:txBody>
      </p:sp>
      <p:sp>
        <p:nvSpPr>
          <p:cNvPr id="10" name="TextBox 9"/>
          <p:cNvSpPr txBox="1"/>
          <p:nvPr/>
        </p:nvSpPr>
        <p:spPr>
          <a:xfrm>
            <a:off x="2651760" y="2816352"/>
            <a:ext cx="274320" cy="365760"/>
          </a:xfrm>
          <a:prstGeom prst="rect">
            <a:avLst/>
          </a:prstGeom>
          <a:noFill/>
        </p:spPr>
        <p:txBody>
          <a:bodyPr wrap="square" lIns="0" rIns="0" tIns="0" bIns="0">
            <a:spAutoFit/>
          </a:bodyPr>
          <a:lstStyle/>
          <a:p>
            <a:pPr>
              <a:spcAft>
                <a:spcPts val="800"/>
              </a:spcAft>
              <a:defRPr sz="2200" b="0">
                <a:solidFill>
                  <a:srgbClr val="B58A46"/>
                </a:solidFill>
                <a:latin typeface="Liberation Sans"/>
              </a:defRPr>
            </a:pPr>
            <a:r>
              <a:t>→</a:t>
            </a:r>
          </a:p>
        </p:txBody>
      </p:sp>
      <p:sp>
        <p:nvSpPr>
          <p:cNvPr id="11" name="Rectangle 10"/>
          <p:cNvSpPr/>
          <p:nvPr/>
        </p:nvSpPr>
        <p:spPr>
          <a:xfrm>
            <a:off x="2935224" y="2468880"/>
            <a:ext cx="1956816" cy="1188720"/>
          </a:xfrm>
          <a:prstGeom prst="rect">
            <a:avLst/>
          </a:prstGeom>
          <a:solidFill>
            <a:srgbClr val="E4E9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72384" y="2670048"/>
            <a:ext cx="1700784" cy="320040"/>
          </a:xfrm>
          <a:prstGeom prst="rect">
            <a:avLst/>
          </a:prstGeom>
          <a:noFill/>
        </p:spPr>
        <p:txBody>
          <a:bodyPr wrap="square" lIns="0" rIns="0" tIns="0" bIns="0">
            <a:spAutoFit/>
          </a:bodyPr>
          <a:lstStyle/>
          <a:p>
            <a:pPr>
              <a:spcAft>
                <a:spcPts val="800"/>
              </a:spcAft>
              <a:defRPr sz="1200" b="1">
                <a:solidFill>
                  <a:srgbClr val="557862"/>
                </a:solidFill>
                <a:latin typeface="Liberation Sans"/>
              </a:defRPr>
            </a:pPr>
            <a:r>
              <a:t>ASSEMBLYAI</a:t>
            </a:r>
          </a:p>
        </p:txBody>
      </p:sp>
      <p:sp>
        <p:nvSpPr>
          <p:cNvPr id="13" name="TextBox 12"/>
          <p:cNvSpPr txBox="1"/>
          <p:nvPr/>
        </p:nvSpPr>
        <p:spPr>
          <a:xfrm>
            <a:off x="3072384" y="3127248"/>
            <a:ext cx="1737360" cy="320040"/>
          </a:xfrm>
          <a:prstGeom prst="rect">
            <a:avLst/>
          </a:prstGeom>
          <a:noFill/>
        </p:spPr>
        <p:txBody>
          <a:bodyPr wrap="square" lIns="0" rIns="0" tIns="0" bIns="0">
            <a:spAutoFit/>
          </a:bodyPr>
          <a:lstStyle/>
          <a:p>
            <a:pPr>
              <a:spcAft>
                <a:spcPts val="800"/>
              </a:spcAft>
              <a:defRPr sz="1500" b="0">
                <a:solidFill>
                  <a:srgbClr val="24382F"/>
                </a:solidFill>
                <a:latin typeface="Liberation Sans"/>
              </a:defRPr>
            </a:pPr>
            <a:r>
              <a:t>ASR + agent</a:t>
            </a:r>
          </a:p>
        </p:txBody>
      </p:sp>
      <p:sp>
        <p:nvSpPr>
          <p:cNvPr id="14" name="TextBox 13"/>
          <p:cNvSpPr txBox="1"/>
          <p:nvPr/>
        </p:nvSpPr>
        <p:spPr>
          <a:xfrm>
            <a:off x="4946904" y="2816352"/>
            <a:ext cx="274320" cy="365760"/>
          </a:xfrm>
          <a:prstGeom prst="rect">
            <a:avLst/>
          </a:prstGeom>
          <a:noFill/>
        </p:spPr>
        <p:txBody>
          <a:bodyPr wrap="square" lIns="0" rIns="0" tIns="0" bIns="0">
            <a:spAutoFit/>
          </a:bodyPr>
          <a:lstStyle/>
          <a:p>
            <a:pPr>
              <a:spcAft>
                <a:spcPts val="800"/>
              </a:spcAft>
              <a:defRPr sz="2200" b="0">
                <a:solidFill>
                  <a:srgbClr val="B58A46"/>
                </a:solidFill>
                <a:latin typeface="Liberation Sans"/>
              </a:defRPr>
            </a:pPr>
            <a:r>
              <a:t>→</a:t>
            </a:r>
          </a:p>
        </p:txBody>
      </p:sp>
      <p:sp>
        <p:nvSpPr>
          <p:cNvPr id="15" name="Rectangle 14"/>
          <p:cNvSpPr/>
          <p:nvPr/>
        </p:nvSpPr>
        <p:spPr>
          <a:xfrm>
            <a:off x="5230368" y="2468880"/>
            <a:ext cx="1956816" cy="1188720"/>
          </a:xfrm>
          <a:prstGeom prst="rect">
            <a:avLst/>
          </a:prstGeom>
          <a:solidFill>
            <a:srgbClr val="E4E9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67528" y="2670048"/>
            <a:ext cx="1700784" cy="320040"/>
          </a:xfrm>
          <a:prstGeom prst="rect">
            <a:avLst/>
          </a:prstGeom>
          <a:noFill/>
        </p:spPr>
        <p:txBody>
          <a:bodyPr wrap="square" lIns="0" rIns="0" tIns="0" bIns="0">
            <a:spAutoFit/>
          </a:bodyPr>
          <a:lstStyle/>
          <a:p>
            <a:pPr>
              <a:spcAft>
                <a:spcPts val="800"/>
              </a:spcAft>
              <a:defRPr sz="1200" b="1">
                <a:solidFill>
                  <a:srgbClr val="557862"/>
                </a:solidFill>
                <a:latin typeface="Liberation Sans"/>
              </a:defRPr>
            </a:pPr>
            <a:r>
              <a:t>LOCAL TOOLS</a:t>
            </a:r>
          </a:p>
        </p:txBody>
      </p:sp>
      <p:sp>
        <p:nvSpPr>
          <p:cNvPr id="17" name="TextBox 16"/>
          <p:cNvSpPr txBox="1"/>
          <p:nvPr/>
        </p:nvSpPr>
        <p:spPr>
          <a:xfrm>
            <a:off x="5367528" y="3127248"/>
            <a:ext cx="1737360" cy="320040"/>
          </a:xfrm>
          <a:prstGeom prst="rect">
            <a:avLst/>
          </a:prstGeom>
          <a:noFill/>
        </p:spPr>
        <p:txBody>
          <a:bodyPr wrap="square" lIns="0" rIns="0" tIns="0" bIns="0">
            <a:spAutoFit/>
          </a:bodyPr>
          <a:lstStyle/>
          <a:p>
            <a:pPr>
              <a:spcAft>
                <a:spcPts val="800"/>
              </a:spcAft>
              <a:defRPr sz="1500" b="0">
                <a:solidFill>
                  <a:srgbClr val="24382F"/>
                </a:solidFill>
                <a:latin typeface="Liberation Sans"/>
              </a:defRPr>
            </a:pPr>
            <a:r>
              <a:t>Look / propose</a:t>
            </a:r>
          </a:p>
        </p:txBody>
      </p:sp>
      <p:sp>
        <p:nvSpPr>
          <p:cNvPr id="18" name="TextBox 17"/>
          <p:cNvSpPr txBox="1"/>
          <p:nvPr/>
        </p:nvSpPr>
        <p:spPr>
          <a:xfrm>
            <a:off x="7242048" y="2816352"/>
            <a:ext cx="274320" cy="365760"/>
          </a:xfrm>
          <a:prstGeom prst="rect">
            <a:avLst/>
          </a:prstGeom>
          <a:noFill/>
        </p:spPr>
        <p:txBody>
          <a:bodyPr wrap="square" lIns="0" rIns="0" tIns="0" bIns="0">
            <a:spAutoFit/>
          </a:bodyPr>
          <a:lstStyle/>
          <a:p>
            <a:pPr>
              <a:spcAft>
                <a:spcPts val="800"/>
              </a:spcAft>
              <a:defRPr sz="2200" b="0">
                <a:solidFill>
                  <a:srgbClr val="B58A46"/>
                </a:solidFill>
                <a:latin typeface="Liberation Sans"/>
              </a:defRPr>
            </a:pPr>
            <a:r>
              <a:t>→</a:t>
            </a:r>
          </a:p>
        </p:txBody>
      </p:sp>
      <p:sp>
        <p:nvSpPr>
          <p:cNvPr id="19" name="Rectangle 18"/>
          <p:cNvSpPr/>
          <p:nvPr/>
        </p:nvSpPr>
        <p:spPr>
          <a:xfrm>
            <a:off x="7525511" y="2468880"/>
            <a:ext cx="1956816" cy="1188720"/>
          </a:xfrm>
          <a:prstGeom prst="rect">
            <a:avLst/>
          </a:prstGeom>
          <a:solidFill>
            <a:srgbClr val="E4E9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62671" y="2670048"/>
            <a:ext cx="1700784" cy="320040"/>
          </a:xfrm>
          <a:prstGeom prst="rect">
            <a:avLst/>
          </a:prstGeom>
          <a:noFill/>
        </p:spPr>
        <p:txBody>
          <a:bodyPr wrap="square" lIns="0" rIns="0" tIns="0" bIns="0">
            <a:spAutoFit/>
          </a:bodyPr>
          <a:lstStyle/>
          <a:p>
            <a:pPr>
              <a:spcAft>
                <a:spcPts val="800"/>
              </a:spcAft>
              <a:defRPr sz="1200" b="1">
                <a:solidFill>
                  <a:srgbClr val="557862"/>
                </a:solidFill>
                <a:latin typeface="Liberation Sans"/>
              </a:defRPr>
            </a:pPr>
            <a:r>
              <a:t>GAME SERVER</a:t>
            </a:r>
          </a:p>
        </p:txBody>
      </p:sp>
      <p:sp>
        <p:nvSpPr>
          <p:cNvPr id="21" name="TextBox 20"/>
          <p:cNvSpPr txBox="1"/>
          <p:nvPr/>
        </p:nvSpPr>
        <p:spPr>
          <a:xfrm>
            <a:off x="7662671" y="3127248"/>
            <a:ext cx="1737360" cy="320040"/>
          </a:xfrm>
          <a:prstGeom prst="rect">
            <a:avLst/>
          </a:prstGeom>
          <a:noFill/>
        </p:spPr>
        <p:txBody>
          <a:bodyPr wrap="square" lIns="0" rIns="0" tIns="0" bIns="0">
            <a:spAutoFit/>
          </a:bodyPr>
          <a:lstStyle/>
          <a:p>
            <a:pPr>
              <a:spcAft>
                <a:spcPts val="800"/>
              </a:spcAft>
              <a:defRPr sz="1500" b="0">
                <a:solidFill>
                  <a:srgbClr val="24382F"/>
                </a:solidFill>
                <a:latin typeface="Liberation Sans"/>
              </a:defRPr>
            </a:pPr>
            <a:r>
              <a:t>Validate state</a:t>
            </a:r>
          </a:p>
        </p:txBody>
      </p:sp>
      <p:sp>
        <p:nvSpPr>
          <p:cNvPr id="22" name="TextBox 21"/>
          <p:cNvSpPr txBox="1"/>
          <p:nvPr/>
        </p:nvSpPr>
        <p:spPr>
          <a:xfrm>
            <a:off x="9537192" y="2816352"/>
            <a:ext cx="274320" cy="365760"/>
          </a:xfrm>
          <a:prstGeom prst="rect">
            <a:avLst/>
          </a:prstGeom>
          <a:noFill/>
        </p:spPr>
        <p:txBody>
          <a:bodyPr wrap="square" lIns="0" rIns="0" tIns="0" bIns="0">
            <a:spAutoFit/>
          </a:bodyPr>
          <a:lstStyle/>
          <a:p>
            <a:pPr>
              <a:spcAft>
                <a:spcPts val="800"/>
              </a:spcAft>
              <a:defRPr sz="2200" b="0">
                <a:solidFill>
                  <a:srgbClr val="B58A46"/>
                </a:solidFill>
                <a:latin typeface="Liberation Sans"/>
              </a:defRPr>
            </a:pPr>
            <a:r>
              <a:t>→</a:t>
            </a:r>
          </a:p>
        </p:txBody>
      </p:sp>
      <p:sp>
        <p:nvSpPr>
          <p:cNvPr id="23" name="Rectangle 22"/>
          <p:cNvSpPr/>
          <p:nvPr/>
        </p:nvSpPr>
        <p:spPr>
          <a:xfrm>
            <a:off x="9820655" y="2468880"/>
            <a:ext cx="1956816" cy="1188720"/>
          </a:xfrm>
          <a:prstGeom prst="rect">
            <a:avLst/>
          </a:prstGeom>
          <a:solidFill>
            <a:srgbClr val="E4E9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957815" y="2670048"/>
            <a:ext cx="1700784" cy="320040"/>
          </a:xfrm>
          <a:prstGeom prst="rect">
            <a:avLst/>
          </a:prstGeom>
          <a:noFill/>
        </p:spPr>
        <p:txBody>
          <a:bodyPr wrap="square" lIns="0" rIns="0" tIns="0" bIns="0">
            <a:spAutoFit/>
          </a:bodyPr>
          <a:lstStyle/>
          <a:p>
            <a:pPr>
              <a:spcAft>
                <a:spcPts val="800"/>
              </a:spcAft>
              <a:defRPr sz="1200" b="1">
                <a:solidFill>
                  <a:srgbClr val="557862"/>
                </a:solidFill>
                <a:latin typeface="Liberation Sans"/>
              </a:defRPr>
            </a:pPr>
            <a:r>
              <a:t>SPEECH</a:t>
            </a:r>
          </a:p>
        </p:txBody>
      </p:sp>
      <p:sp>
        <p:nvSpPr>
          <p:cNvPr id="25" name="TextBox 24"/>
          <p:cNvSpPr txBox="1"/>
          <p:nvPr/>
        </p:nvSpPr>
        <p:spPr>
          <a:xfrm>
            <a:off x="9957815" y="3127248"/>
            <a:ext cx="1737360" cy="320040"/>
          </a:xfrm>
          <a:prstGeom prst="rect">
            <a:avLst/>
          </a:prstGeom>
          <a:noFill/>
        </p:spPr>
        <p:txBody>
          <a:bodyPr wrap="square" lIns="0" rIns="0" tIns="0" bIns="0">
            <a:spAutoFit/>
          </a:bodyPr>
          <a:lstStyle/>
          <a:p>
            <a:pPr>
              <a:spcAft>
                <a:spcPts val="800"/>
              </a:spcAft>
              <a:defRPr sz="1500" b="0">
                <a:solidFill>
                  <a:srgbClr val="24382F"/>
                </a:solidFill>
                <a:latin typeface="Liberation Sans"/>
              </a:defRPr>
            </a:pPr>
            <a:r>
              <a:t>Pip replies</a:t>
            </a:r>
          </a:p>
        </p:txBody>
      </p:sp>
      <p:sp>
        <p:nvSpPr>
          <p:cNvPr id="26" name="Rectangle 25"/>
          <p:cNvSpPr/>
          <p:nvPr/>
        </p:nvSpPr>
        <p:spPr>
          <a:xfrm>
            <a:off x="2880360" y="4187952"/>
            <a:ext cx="6419088" cy="1152144"/>
          </a:xfrm>
          <a:prstGeom prst="rect">
            <a:avLst/>
          </a:prstGeom>
          <a:solidFill>
            <a:srgbClr val="2438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108960" y="4407408"/>
            <a:ext cx="5943600" cy="365760"/>
          </a:xfrm>
          <a:prstGeom prst="rect">
            <a:avLst/>
          </a:prstGeom>
          <a:noFill/>
        </p:spPr>
        <p:txBody>
          <a:bodyPr wrap="square" lIns="0" rIns="0" tIns="0" bIns="0">
            <a:spAutoFit/>
          </a:bodyPr>
          <a:lstStyle/>
          <a:p>
            <a:pPr>
              <a:spcAft>
                <a:spcPts val="800"/>
              </a:spcAft>
              <a:defRPr sz="1600" b="1">
                <a:solidFill>
                  <a:srgbClr val="F4EFE2"/>
                </a:solidFill>
                <a:latin typeface="Liberation Sans"/>
              </a:defRPr>
            </a:pPr>
            <a:r>
              <a:t>HUMAN CONSOLE / EXACT CONFIRMATION</a:t>
            </a:r>
          </a:p>
        </p:txBody>
      </p:sp>
      <p:sp>
        <p:nvSpPr>
          <p:cNvPr id="28" name="TextBox 27"/>
          <p:cNvSpPr txBox="1"/>
          <p:nvPr/>
        </p:nvSpPr>
        <p:spPr>
          <a:xfrm>
            <a:off x="3108960" y="4837176"/>
            <a:ext cx="5943600" cy="292608"/>
          </a:xfrm>
          <a:prstGeom prst="rect">
            <a:avLst/>
          </a:prstGeom>
          <a:noFill/>
        </p:spPr>
        <p:txBody>
          <a:bodyPr wrap="square" lIns="0" rIns="0" tIns="0" bIns="0">
            <a:spAutoFit/>
          </a:bodyPr>
          <a:lstStyle/>
          <a:p>
            <a:pPr>
              <a:spcAft>
                <a:spcPts val="800"/>
              </a:spcAft>
              <a:defRPr sz="1500" b="0">
                <a:solidFill>
                  <a:srgbClr val="F4EFE2"/>
                </a:solidFill>
                <a:latin typeface="Liberation Sans"/>
              </a:defRPr>
            </a:pPr>
            <a:r>
              <a:t>Only an admitted confirmation commits a physical proposal.</a:t>
            </a:r>
          </a:p>
        </p:txBody>
      </p:sp>
      <p:sp>
        <p:nvSpPr>
          <p:cNvPr id="29" name="TextBox 28"/>
          <p:cNvSpPr txBox="1"/>
          <p:nvPr/>
        </p:nvSpPr>
        <p:spPr>
          <a:xfrm>
            <a:off x="731520" y="5806440"/>
            <a:ext cx="10789920" cy="457200"/>
          </a:xfrm>
          <a:prstGeom prst="rect">
            <a:avLst/>
          </a:prstGeom>
          <a:noFill/>
        </p:spPr>
        <p:txBody>
          <a:bodyPr wrap="square" lIns="0" rIns="0" tIns="0" bIns="0">
            <a:spAutoFit/>
          </a:bodyPr>
          <a:lstStyle/>
          <a:p>
            <a:pPr>
              <a:spcAft>
                <a:spcPts val="800"/>
              </a:spcAft>
              <a:defRPr sz="2100" b="0">
                <a:solidFill>
                  <a:srgbClr val="557862"/>
                </a:solidFill>
                <a:latin typeface="Liberation Sans"/>
              </a:defRPr>
            </a:pPr>
            <a:r>
              <a:t>Conversation exchanges information. Authority remains in the game server.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EFE2"/>
        </a:solidFill>
        <a:effectLst/>
      </p:bgPr>
    </p:bg>
    <p:spTree>
      <p:nvGrpSpPr>
        <p:cNvPr id="1" name=""/>
        <p:cNvGrpSpPr/>
        <p:nvPr/>
      </p:nvGrpSpPr>
      <p:grpSpPr/>
      <p:sp>
        <p:nvSpPr>
          <p:cNvPr id="2" name="Rectangle 1"/>
          <p:cNvSpPr/>
          <p:nvPr/>
        </p:nvSpPr>
        <p:spPr>
          <a:xfrm>
            <a:off x="594360" y="457200"/>
            <a:ext cx="411480" cy="41148"/>
          </a:xfrm>
          <a:prstGeom prst="rect">
            <a:avLst/>
          </a:prstGeom>
          <a:solidFill>
            <a:srgbClr val="B58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33856" y="365760"/>
            <a:ext cx="10058400" cy="320040"/>
          </a:xfrm>
          <a:prstGeom prst="rect">
            <a:avLst/>
          </a:prstGeom>
          <a:noFill/>
        </p:spPr>
        <p:txBody>
          <a:bodyPr wrap="square" lIns="0" rIns="0" tIns="0" bIns="0">
            <a:spAutoFit/>
          </a:bodyPr>
          <a:lstStyle/>
          <a:p>
            <a:pPr>
              <a:spcAft>
                <a:spcPts val="800"/>
              </a:spcAft>
              <a:defRPr sz="1100" b="1">
                <a:solidFill>
                  <a:srgbClr val="607066"/>
                </a:solidFill>
                <a:latin typeface="Liberation Sans"/>
              </a:defRPr>
            </a:pPr>
            <a:r>
              <a:t>EVIDENCE AND NEXT STEP</a:t>
            </a:r>
          </a:p>
        </p:txBody>
      </p:sp>
      <p:sp>
        <p:nvSpPr>
          <p:cNvPr id="4" name="TextBox 3"/>
          <p:cNvSpPr txBox="1"/>
          <p:nvPr/>
        </p:nvSpPr>
        <p:spPr>
          <a:xfrm>
            <a:off x="594360" y="960120"/>
            <a:ext cx="10972800" cy="822960"/>
          </a:xfrm>
          <a:prstGeom prst="rect">
            <a:avLst/>
          </a:prstGeom>
          <a:noFill/>
        </p:spPr>
        <p:txBody>
          <a:bodyPr wrap="square" lIns="0" rIns="0" tIns="0" bIns="0">
            <a:spAutoFit/>
          </a:bodyPr>
          <a:lstStyle/>
          <a:p>
            <a:pPr>
              <a:spcAft>
                <a:spcPts val="800"/>
              </a:spcAft>
              <a:defRPr sz="3500" b="0">
                <a:solidFill>
                  <a:srgbClr val="24382F"/>
                </a:solidFill>
                <a:latin typeface="Liberation Serif"/>
              </a:defRPr>
            </a:pPr>
            <a:r>
              <a:t>A working prototype, with a clear next step.</a:t>
            </a:r>
          </a:p>
        </p:txBody>
      </p:sp>
      <p:sp>
        <p:nvSpPr>
          <p:cNvPr id="5" name="TextBox 4"/>
          <p:cNvSpPr txBox="1"/>
          <p:nvPr/>
        </p:nvSpPr>
        <p:spPr>
          <a:xfrm>
            <a:off x="621792" y="6473952"/>
            <a:ext cx="10058400" cy="201168"/>
          </a:xfrm>
          <a:prstGeom prst="rect">
            <a:avLst/>
          </a:prstGeom>
          <a:noFill/>
        </p:spPr>
        <p:txBody>
          <a:bodyPr wrap="square" lIns="0" rIns="0" tIns="0" bIns="0">
            <a:spAutoFit/>
          </a:bodyPr>
          <a:lstStyle/>
          <a:p>
            <a:pPr>
              <a:spcAft>
                <a:spcPts val="800"/>
              </a:spcAft>
              <a:defRPr sz="900" b="0">
                <a:solidFill>
                  <a:srgbClr val="607066"/>
                </a:solidFill>
                <a:latin typeface="Liberation Sans"/>
              </a:defRPr>
            </a:pPr>
            <a:r>
              <a:t>Talk Me Home · Historical real Voice + new Practice · different builds, separately labelled</a:t>
            </a:r>
          </a:p>
        </p:txBody>
      </p:sp>
      <p:sp>
        <p:nvSpPr>
          <p:cNvPr id="6" name="TextBox 5"/>
          <p:cNvSpPr txBox="1"/>
          <p:nvPr/>
        </p:nvSpPr>
        <p:spPr>
          <a:xfrm>
            <a:off x="10881360" y="6446520"/>
            <a:ext cx="731520" cy="274320"/>
          </a:xfrm>
          <a:prstGeom prst="rect">
            <a:avLst/>
          </a:prstGeom>
          <a:noFill/>
        </p:spPr>
        <p:txBody>
          <a:bodyPr wrap="square" lIns="0" rIns="0" tIns="0" bIns="0">
            <a:spAutoFit/>
          </a:bodyPr>
          <a:lstStyle/>
          <a:p>
            <a:pPr>
              <a:spcAft>
                <a:spcPts val="800"/>
              </a:spcAft>
              <a:defRPr sz="1000" b="0">
                <a:solidFill>
                  <a:srgbClr val="607066"/>
                </a:solidFill>
                <a:latin typeface="Liberation Sans"/>
              </a:defRPr>
            </a:pPr>
            <a:r>
              <a:t>06 / 06</a:t>
            </a:r>
          </a:p>
        </p:txBody>
      </p:sp>
      <p:pic>
        <p:nvPicPr>
          <p:cNvPr id="7" name="Picture 6" descr="historical-home.png"/>
          <p:cNvPicPr>
            <a:picLocks noChangeAspect="1"/>
          </p:cNvPicPr>
          <p:nvPr/>
        </p:nvPicPr>
        <p:blipFill>
          <a:blip r:embed="rId2"/>
          <a:stretch>
            <a:fillRect/>
          </a:stretch>
        </p:blipFill>
        <p:spPr>
          <a:xfrm>
            <a:off x="791870" y="2048256"/>
            <a:ext cx="6408115" cy="4005072"/>
          </a:xfrm>
          <a:prstGeom prst="rect">
            <a:avLst/>
          </a:prstGeom>
        </p:spPr>
      </p:pic>
      <p:sp>
        <p:nvSpPr>
          <p:cNvPr id="8" name="TextBox 7"/>
          <p:cNvSpPr txBox="1"/>
          <p:nvPr/>
        </p:nvSpPr>
        <p:spPr>
          <a:xfrm>
            <a:off x="7708392" y="2212848"/>
            <a:ext cx="3749039" cy="320040"/>
          </a:xfrm>
          <a:prstGeom prst="rect">
            <a:avLst/>
          </a:prstGeom>
          <a:noFill/>
        </p:spPr>
        <p:txBody>
          <a:bodyPr wrap="square" lIns="0" rIns="0" tIns="0" bIns="0">
            <a:spAutoFit/>
          </a:bodyPr>
          <a:lstStyle/>
          <a:p>
            <a:pPr>
              <a:spcAft>
                <a:spcPts val="800"/>
              </a:spcAft>
              <a:defRPr sz="1300" b="1">
                <a:solidFill>
                  <a:srgbClr val="557862"/>
                </a:solidFill>
                <a:latin typeface="Liberation Sans"/>
              </a:defRPr>
            </a:pPr>
            <a:r>
              <a:t>HISTORICAL REAL VOICE</a:t>
            </a:r>
          </a:p>
        </p:txBody>
      </p:sp>
      <p:sp>
        <p:nvSpPr>
          <p:cNvPr id="9" name="TextBox 8"/>
          <p:cNvSpPr txBox="1"/>
          <p:nvPr/>
        </p:nvSpPr>
        <p:spPr>
          <a:xfrm>
            <a:off x="7708392" y="2706624"/>
            <a:ext cx="3749039" cy="914400"/>
          </a:xfrm>
          <a:prstGeom prst="rect">
            <a:avLst/>
          </a:prstGeom>
          <a:noFill/>
        </p:spPr>
        <p:txBody>
          <a:bodyPr wrap="square" lIns="0" rIns="0" tIns="0" bIns="0">
            <a:spAutoFit/>
          </a:bodyPr>
          <a:lstStyle/>
          <a:p>
            <a:pPr>
              <a:spcAft>
                <a:spcPts val="800"/>
              </a:spcAft>
              <a:defRPr sz="2000" b="0">
                <a:solidFill>
                  <a:srgbClr val="24382F"/>
                </a:solidFill>
                <a:latin typeface="Liberation Sans"/>
              </a:defRPr>
            </a:pPr>
            <a:r>
              <a:t>One full rescue, synthetic input.</a:t>
            </a:r>
          </a:p>
          <a:p>
            <a:pPr>
              <a:spcAft>
                <a:spcPts val="800"/>
              </a:spcAft>
              <a:defRPr sz="2000" b="0">
                <a:solidFill>
                  <a:srgbClr val="24382F"/>
                </a:solidFill>
                <a:latin typeface="Liberation Sans"/>
              </a:defRPr>
            </a:pPr>
            <a:r>
              <a:t>Ending ACK received.</a:t>
            </a:r>
          </a:p>
        </p:txBody>
      </p:sp>
      <p:sp>
        <p:nvSpPr>
          <p:cNvPr id="10" name="TextBox 9"/>
          <p:cNvSpPr txBox="1"/>
          <p:nvPr/>
        </p:nvSpPr>
        <p:spPr>
          <a:xfrm>
            <a:off x="7708392" y="3858768"/>
            <a:ext cx="3749039" cy="320040"/>
          </a:xfrm>
          <a:prstGeom prst="rect">
            <a:avLst/>
          </a:prstGeom>
          <a:noFill/>
        </p:spPr>
        <p:txBody>
          <a:bodyPr wrap="square" lIns="0" rIns="0" tIns="0" bIns="0">
            <a:spAutoFit/>
          </a:bodyPr>
          <a:lstStyle/>
          <a:p>
            <a:pPr>
              <a:spcAft>
                <a:spcPts val="800"/>
              </a:spcAft>
              <a:defRPr sz="1300" b="1">
                <a:solidFill>
                  <a:srgbClr val="557862"/>
                </a:solidFill>
                <a:latin typeface="Liberation Sans"/>
              </a:defRPr>
            </a:pPr>
            <a:r>
              <a:t>NEW BUILD / PRACTICE</a:t>
            </a:r>
          </a:p>
        </p:txBody>
      </p:sp>
      <p:sp>
        <p:nvSpPr>
          <p:cNvPr id="11" name="TextBox 10"/>
          <p:cNvSpPr txBox="1"/>
          <p:nvPr/>
        </p:nvSpPr>
        <p:spPr>
          <a:xfrm>
            <a:off x="7708392" y="4306824"/>
            <a:ext cx="3749039" cy="822960"/>
          </a:xfrm>
          <a:prstGeom prst="rect">
            <a:avLst/>
          </a:prstGeom>
          <a:noFill/>
        </p:spPr>
        <p:txBody>
          <a:bodyPr wrap="square" lIns="0" rIns="0" tIns="0" bIns="0">
            <a:spAutoFit/>
          </a:bodyPr>
          <a:lstStyle/>
          <a:p>
            <a:pPr>
              <a:spcAft>
                <a:spcPts val="800"/>
              </a:spcAft>
              <a:defRPr sz="2000" b="0">
                <a:solidFill>
                  <a:srgbClr val="24382F"/>
                </a:solidFill>
                <a:latin typeface="Liberation Sans"/>
              </a:defRPr>
            </a:pPr>
            <a:r>
              <a:t>Optional recorder demonstrated.</a:t>
            </a:r>
          </a:p>
          <a:p>
            <a:pPr>
              <a:spcAft>
                <a:spcPts val="800"/>
              </a:spcAft>
              <a:defRPr sz="2000" b="0">
                <a:solidFill>
                  <a:srgbClr val="24382F"/>
                </a:solidFill>
                <a:latin typeface="Liberation Sans"/>
              </a:defRPr>
            </a:pPr>
            <a:r>
              <a:t>No new Live acceptance.</a:t>
            </a:r>
          </a:p>
        </p:txBody>
      </p:sp>
      <p:sp>
        <p:nvSpPr>
          <p:cNvPr id="12" name="TextBox 11"/>
          <p:cNvSpPr txBox="1"/>
          <p:nvPr/>
        </p:nvSpPr>
        <p:spPr>
          <a:xfrm>
            <a:off x="7708392" y="5468112"/>
            <a:ext cx="3749039" cy="320040"/>
          </a:xfrm>
          <a:prstGeom prst="rect">
            <a:avLst/>
          </a:prstGeom>
          <a:noFill/>
        </p:spPr>
        <p:txBody>
          <a:bodyPr wrap="square" lIns="0" rIns="0" tIns="0" bIns="0">
            <a:spAutoFit/>
          </a:bodyPr>
          <a:lstStyle/>
          <a:p>
            <a:pPr>
              <a:spcAft>
                <a:spcPts val="800"/>
              </a:spcAft>
              <a:defRPr sz="1300" b="1">
                <a:solidFill>
                  <a:srgbClr val="557862"/>
                </a:solidFill>
                <a:latin typeface="Liberation Sans"/>
              </a:defRPr>
            </a:pPr>
            <a:r>
              <a:t>NEXT / STILL UNMEASURED</a:t>
            </a:r>
          </a:p>
        </p:txBody>
      </p:sp>
      <p:sp>
        <p:nvSpPr>
          <p:cNvPr id="13" name="TextBox 12"/>
          <p:cNvSpPr txBox="1"/>
          <p:nvPr/>
        </p:nvSpPr>
        <p:spPr>
          <a:xfrm>
            <a:off x="7708392" y="5833872"/>
            <a:ext cx="3749039" cy="521207"/>
          </a:xfrm>
          <a:prstGeom prst="rect">
            <a:avLst/>
          </a:prstGeom>
          <a:noFill/>
        </p:spPr>
        <p:txBody>
          <a:bodyPr wrap="square" lIns="0" rIns="0" tIns="0" bIns="0">
            <a:spAutoFit/>
          </a:bodyPr>
          <a:lstStyle/>
          <a:p>
            <a:pPr>
              <a:spcAft>
                <a:spcPts val="800"/>
              </a:spcAft>
              <a:defRPr sz="1400" b="0">
                <a:solidFill>
                  <a:srgbClr val="24382F"/>
                </a:solidFill>
                <a:latin typeface="Liberation Sans"/>
              </a:defRPr>
            </a:pPr>
            <a:r>
              <a:t>Human enjoyment, physical audio, reliability.</a:t>
            </a:r>
          </a:p>
          <a:p>
            <a:pPr>
              <a:spcAft>
                <a:spcPts val="800"/>
              </a:spcAft>
              <a:defRPr sz="1400" b="0">
                <a:solidFill>
                  <a:srgbClr val="24382F"/>
                </a:solidFill>
                <a:latin typeface="Liberation Sans"/>
              </a:defRPr>
            </a:pPr>
            <a:r>
              <a:t>Hosting and submission remain separate.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Talk Me Home — cooperation through conversation</dc:title>
  <dc:subject/>
  <dc:creator>Talk Me Home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