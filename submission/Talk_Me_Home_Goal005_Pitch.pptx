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original cover illustration, not a gameplay screenshot. Goal 005 versioned local draft. Final results are controlled by status.json; no public link is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game/server/proposals.ts, sessions.ts and private records; existing shared contracts. Human documents and notes do not enter Pip context. Robot-local perception does not automatically position the human atlas. This is a normal gameplay split, not a developer-tools secrecy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Goal 005 compiled Practice UI, artifacts/goal-005/ui/gallery-validation.json. Capture is deterministic offline gameplay, not real-model completion. Planned and explored routes are deliberate private player annotations. Both authored Gallery configurations and topology remain finite; no automatically solved safe path is drawn.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Practice screenshot at CSS 200% zoom, not a visual mockup. Exact saved messages and original report time/source are preserved. Report freshness is server-stamped at receipt; a Relay change and change-back cannot revive a gate reading. Selected quick requests are explicitly labelled Selected request, never microphone speech. Private associations do not enter robot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Implemented Goal 005 product design; schema/adapter and compiled injected-provider tests establish local behavior, not a guarantee of real-model compliance. Arrival data is robot-eligible only and has no hidden global graph. Existing one-shot scheduler preserves safe tool/playback boundaries and cancellation. Final live efficacy must be supplied from completed batch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must be updated from actual final-candidate results. Do not convert Practice, fake-peer tests, selected requests or historical failed calls into a Voice completion. No claim about human enjoyment, physical audio quality, revenue, customers or statistical reliability. Public URLs intentionally remain unset. {"phase": "IN_PROGRESS", "displayStatus": "Goal 005 draft \u00b7 live acceptance in progress", "acceptanceHeadline": "The final live result is still being established.", "acceptanceCopy": "Current images show deterministic Practice. Final-candidate Voice completion, recovery and ending evidence will replace this status after the approved batch.", "verifiedBuild": null, "publicDemoUrl": null, "uploadedVideoUrl": null, "evidencePath": "artifacts/goal-005/ui/gallery-validation.json", "uiCaptures": {"wide": "artifacts/goal-005/ui/goal-005-gallery-chromium-1440.png", "report": "artifacts/goal-005/ui/goal-005-gallery-zoom-chromium-1280.png"}}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8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illustration-1600x900.png"/>
          <p:cNvPicPr>
            <a:picLocks noChangeAspect="1"/>
          </p:cNvPicPr>
          <p:nvPr/>
        </p:nvPicPr>
        <p:blipFill>
          <a:blip r:embed="rId2"/>
          <a:srcRect l="53200"/>
          <a:stretch>
            <a:fillRect/>
          </a:stretch>
        </p:blipFill>
        <p:spPr>
          <a:xfrm>
            <a:off x="6492240" y="0"/>
            <a:ext cx="570585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243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6675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 b="1">
                <a:solidFill>
                  <a:srgbClr val="CBD3BC"/>
                </a:solidFill>
                <a:latin typeface="Liberation Sans"/>
              </a:defRPr>
            </a:pPr>
            <a:r>
              <a:t>VOICE-LED CO-OP RESCUE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5900" b="0">
                <a:solidFill>
                  <a:srgbClr val="F4EEDC"/>
                </a:solidFill>
                <a:latin typeface="Liberation Serif"/>
              </a:defRPr>
            </a:pPr>
            <a:r>
              <a:t>Talk Me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5900" b="0">
                <a:solidFill>
                  <a:srgbClr val="F4EEDC"/>
                </a:solidFill>
                <a:latin typeface="Liberation Serif"/>
              </a:defRPr>
            </a:pPr>
            <a:r>
              <a:t>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49039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400" b="0">
                <a:solidFill>
                  <a:srgbClr val="EADBBC"/>
                </a:solidFill>
                <a:latin typeface="Liberation Sans"/>
              </a:defRPr>
            </a:pPr>
            <a:r>
              <a:t>You have the map.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400" b="0">
                <a:solidFill>
                  <a:srgbClr val="EADBBC"/>
                </a:solidFill>
                <a:latin typeface="Liberation Sans"/>
              </a:defRPr>
            </a:pPr>
            <a:r>
              <a:t>Pip has eyes and hands.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16636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DCE2CE"/>
                </a:solidFill>
                <a:latin typeface="Liberation Sans"/>
              </a:defRPr>
            </a:pPr>
            <a:r>
              <a:t>Explore through conversation.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DCE2CE"/>
                </a:solidFill>
                <a:latin typeface="Liberation Sans"/>
              </a:defRPr>
            </a:pPr>
            <a:r>
              <a:t>Choose the route. Confirm the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CBD3BC"/>
                </a:solidFill>
                <a:latin typeface="Liberation Sans"/>
              </a:defRPr>
            </a:pPr>
            <a:r>
              <a:t>Goal 005 draft · live acceptance in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384048" cy="45720"/>
          </a:xfrm>
          <a:prstGeom prst="rect">
            <a:avLst/>
          </a:prstGeom>
          <a:solidFill>
            <a:srgbClr val="B58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566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100" b="1">
                <a:solidFill>
                  <a:srgbClr val="607066"/>
                </a:solidFill>
                <a:latin typeface="Liberation Sans"/>
              </a:defRPr>
            </a:pPr>
            <a:r>
              <a:t>THE COOPERATION PREMISE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3500" b="0">
                <a:solidFill>
                  <a:srgbClr val="24382F"/>
                </a:solidFill>
                <a:latin typeface="Liberation Serif"/>
              </a:defRPr>
            </a:pPr>
            <a:r>
              <a:t>Neither partner has the whole picture.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19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 b="0">
                <a:solidFill>
                  <a:srgbClr val="607066"/>
                </a:solidFill>
                <a:latin typeface="Liberation Sans"/>
              </a:defRPr>
            </a:pPr>
            <a:r>
              <a:t>Three chapters: Cargo Bay → Relay Gallery → Return Dock.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Goal 005 draft · live acceptance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3344" y="64190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02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423160"/>
            <a:ext cx="5276088" cy="3182112"/>
          </a:xfrm>
          <a:prstGeom prst="rect">
            <a:avLst/>
          </a:prstGeom>
          <a:solidFill>
            <a:srgbClr val="E8E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2491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 b="1">
                <a:solidFill>
                  <a:srgbClr val="557862"/>
                </a:solidFill>
                <a:latin typeface="Liberation Sans"/>
              </a:defRPr>
            </a:pPr>
            <a:r>
              <a:t>MISSION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19272"/>
            <a:ext cx="46634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300" b="0">
                <a:solidFill>
                  <a:srgbClr val="24382F"/>
                </a:solidFill>
                <a:latin typeface="Liberation Sans"/>
              </a:defRPr>
            </a:pPr>
            <a:r>
              <a:t>Read private documents.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300" b="0">
                <a:solidFill>
                  <a:srgbClr val="24382F"/>
                </a:solidFill>
                <a:latin typeface="Liberation Sans"/>
              </a:defRPr>
            </a:pPr>
            <a:r>
              <a:t>Choose a route.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300" b="0">
                <a:solidFill>
                  <a:srgbClr val="24382F"/>
                </a:solidFill>
                <a:latin typeface="Liberation Sans"/>
              </a:defRPr>
            </a:pPr>
            <a:r>
              <a:t>Set remote equipment.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38928"/>
            <a:ext cx="46634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 b="0">
                <a:solidFill>
                  <a:srgbClr val="607066"/>
                </a:solidFill>
                <a:latin typeface="Liberation Sans"/>
              </a:defRPr>
            </a:pPr>
            <a:r>
              <a:t>Confirm each exact physical proposal.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2423160"/>
            <a:ext cx="5276088" cy="3182112"/>
          </a:xfrm>
          <a:prstGeom prst="rect">
            <a:avLst/>
          </a:prstGeom>
          <a:solidFill>
            <a:srgbClr val="E4E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72491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 b="1">
                <a:solidFill>
                  <a:srgbClr val="557862"/>
                </a:solidFill>
                <a:latin typeface="Liberation Sans"/>
              </a:defRPr>
            </a:pPr>
            <a:r>
              <a:t>PIP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319272"/>
            <a:ext cx="46634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300" b="0">
                <a:solidFill>
                  <a:srgbClr val="24382F"/>
                </a:solidFill>
                <a:latin typeface="Liberation Sans"/>
              </a:defRPr>
            </a:pPr>
            <a:r>
              <a:t>Observe nearby rooms.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300" b="0">
                <a:solidFill>
                  <a:srgbClr val="24382F"/>
                </a:solidFill>
                <a:latin typeface="Liberation Sans"/>
              </a:defRPr>
            </a:pPr>
            <a:r>
              <a:t>Report what is known.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300" b="0">
                <a:solidFill>
                  <a:srgbClr val="24382F"/>
                </a:solidFill>
                <a:latin typeface="Liberation Sans"/>
              </a:defRPr>
            </a:pPr>
            <a:r>
              <a:t>Propose a local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5138928"/>
            <a:ext cx="46634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 b="0">
                <a:solidFill>
                  <a:srgbClr val="607066"/>
                </a:solidFill>
                <a:latin typeface="Liberation Sans"/>
              </a:defRPr>
            </a:pPr>
            <a:r>
              <a:t>Looking and checking need no permission.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2531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 b="0">
                <a:solidFill>
                  <a:srgbClr val="557862"/>
                </a:solidFill>
                <a:latin typeface="Liberation Sans"/>
              </a:defRPr>
            </a:pPr>
            <a:r>
              <a:t>The server validates the current conditions. Spoken agreement does not press Confirm.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384048" cy="45720"/>
          </a:xfrm>
          <a:prstGeom prst="rect">
            <a:avLst/>
          </a:prstGeom>
          <a:solidFill>
            <a:srgbClr val="B58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566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100" b="1">
                <a:solidFill>
                  <a:srgbClr val="607066"/>
                </a:solidFill>
                <a:latin typeface="Liberation Sans"/>
              </a:defRPr>
            </a:pPr>
            <a:r>
              <a:t>A GALLERY WORTH EXPLORING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3500" b="0">
                <a:solidFill>
                  <a:srgbClr val="24382F"/>
                </a:solidFill>
                <a:latin typeface="Liberation Serif"/>
              </a:defRPr>
            </a:pPr>
            <a:r>
              <a:t>Let a report change your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19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 b="0">
                <a:solidFill>
                  <a:srgbClr val="607066"/>
                </a:solidFill>
                <a:latin typeface="Liberation Sans"/>
              </a:defRPr>
            </a:pPr>
            <a:r>
              <a:t>Distinct emblems. Fixed compass. Circuit patterns. Your own route 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Goal 005 draft · live acceptance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3344" y="64190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03 / 06</a:t>
            </a:r>
          </a:p>
        </p:txBody>
      </p:sp>
      <p:pic>
        <p:nvPicPr>
          <p:cNvPr id="8" name="Picture 7" descr="goal-005-gallery-chromium-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677" y="2313432"/>
            <a:ext cx="6174028" cy="3858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5146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 b="1">
                <a:solidFill>
                  <a:srgbClr val="557862"/>
                </a:solidFill>
                <a:latin typeface="Liberation Sans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962656"/>
            <a:ext cx="287121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000" b="0">
                <a:solidFill>
                  <a:srgbClr val="24382F"/>
                </a:solidFill>
                <a:latin typeface="Liberation Sans"/>
              </a:defRPr>
            </a:pPr>
            <a:r>
              <a:t>Mark a corridor.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 b="0">
                <a:solidFill>
                  <a:srgbClr val="24382F"/>
                </a:solidFill>
                <a:latin typeface="Liberation Sans"/>
              </a:defRPr>
            </a:pPr>
            <a:r>
              <a:t>Revise the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27024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 b="1">
                <a:solidFill>
                  <a:srgbClr val="557862"/>
                </a:solidFill>
                <a:latin typeface="Liberation Sans"/>
              </a:defRPr>
            </a:pPr>
            <a: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709160"/>
            <a:ext cx="287121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Keep explored paths and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reported obstructions distinct.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384048" cy="45720"/>
          </a:xfrm>
          <a:prstGeom prst="rect">
            <a:avLst/>
          </a:prstGeom>
          <a:solidFill>
            <a:srgbClr val="B58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566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100" b="1">
                <a:solidFill>
                  <a:srgbClr val="607066"/>
                </a:solidFill>
                <a:latin typeface="Liberation Sans"/>
              </a:defRPr>
            </a:pPr>
            <a:r>
              <a:t>USEFUL FIELD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3500" b="0">
                <a:solidFill>
                  <a:srgbClr val="24382F"/>
                </a:solidFill>
                <a:latin typeface="Liberation Serif"/>
              </a:defRPr>
            </a:pPr>
            <a:r>
              <a:t>Exact words, with their source and 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19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 b="0">
                <a:solidFill>
                  <a:srgbClr val="607066"/>
                </a:solidFill>
                <a:latin typeface="Liberation Sans"/>
              </a:defRPr>
            </a:pPr>
            <a:r>
              <a:t>A report is a communicated claim, not a live sensor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Goal 005 draft · live acceptance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3344" y="64190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04 / 06</a:t>
            </a:r>
          </a:p>
        </p:txBody>
      </p:sp>
      <p:pic>
        <p:nvPicPr>
          <p:cNvPr id="8" name="Picture 7" descr="goal-005-gallery-zoom-chromium-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56" y="2377440"/>
            <a:ext cx="6860031" cy="3858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0144" y="2615184"/>
            <a:ext cx="34930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400" b="0">
                <a:solidFill>
                  <a:srgbClr val="24382F"/>
                </a:solidFill>
                <a:latin typeface="Liberation Serif"/>
              </a:defRPr>
            </a:pPr>
            <a:r>
              <a:t>Keep the quote.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3136392"/>
            <a:ext cx="349300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 b="0">
                <a:solidFill>
                  <a:srgbClr val="607066"/>
                </a:solidFill>
                <a:latin typeface="Liberation Sans"/>
              </a:defRPr>
            </a:pPr>
            <a:r>
              <a:t>Attach it to a room or corridor.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 b="0">
                <a:solidFill>
                  <a:srgbClr val="607066"/>
                </a:solidFill>
                <a:latin typeface="Liberation Sans"/>
              </a:defRPr>
            </a:pPr>
            <a:r>
              <a:t>The association belongs to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4334256"/>
            <a:ext cx="34930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400" b="0">
                <a:solidFill>
                  <a:srgbClr val="24382F"/>
                </a:solidFill>
                <a:latin typeface="Liberation Serif"/>
              </a:defRPr>
            </a:pPr>
            <a:r>
              <a:t>Recheck what 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4846320"/>
            <a:ext cx="3493008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600" b="0">
                <a:solidFill>
                  <a:srgbClr val="607066"/>
                </a:solidFill>
                <a:latin typeface="Liberation Sans"/>
              </a:defRPr>
            </a:pPr>
            <a:r>
              <a:t>Relay changes age gate notes.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 b="0">
                <a:solidFill>
                  <a:srgbClr val="607066"/>
                </a:solidFill>
                <a:latin typeface="Liberation Sans"/>
              </a:defRPr>
            </a:pPr>
            <a:r>
              <a:t>Stable clues remain historical quotes.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 b="0">
                <a:solidFill>
                  <a:srgbClr val="607066"/>
                </a:solidFill>
                <a:latin typeface="Liberation Sans"/>
              </a:defRPr>
            </a:pPr>
            <a:r>
              <a:t>Ask for a fresh surroundings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384048" cy="45720"/>
          </a:xfrm>
          <a:prstGeom prst="rect">
            <a:avLst/>
          </a:prstGeom>
          <a:solidFill>
            <a:srgbClr val="B58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566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100" b="1">
                <a:solidFill>
                  <a:srgbClr val="607066"/>
                </a:solidFill>
                <a:latin typeface="Liberation Sans"/>
              </a:defRPr>
            </a:pPr>
            <a:r>
              <a:t>A COMPANION THAT HELPS YOU 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3500" b="0">
                <a:solidFill>
                  <a:srgbClr val="24382F"/>
                </a:solidFill>
                <a:latin typeface="Liberation Serif"/>
              </a:defRPr>
            </a:pPr>
            <a:r>
              <a:t>“I moved” should not be the end of the exchange.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19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 b="0">
                <a:solidFill>
                  <a:srgbClr val="607066"/>
                </a:solidFill>
                <a:latin typeface="Liberation Sans"/>
              </a:defRPr>
            </a:pPr>
            <a:r>
              <a:t>Goal 005 connects a confirmed arrival to a useful local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Goal 005 draft · live acceptance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3344" y="64190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05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551176"/>
            <a:ext cx="3227832" cy="2898648"/>
          </a:xfrm>
          <a:prstGeom prst="rect">
            <a:avLst/>
          </a:prstGeom>
          <a:solidFill>
            <a:srgbClr val="E4E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843784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200" b="1">
                <a:solidFill>
                  <a:srgbClr val="557862"/>
                </a:solidFill>
                <a:latin typeface="Liberation Sans"/>
              </a:defRPr>
            </a:pPr>
            <a:r>
              <a:t>1  CONFIRMED ARRIVAL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502152"/>
            <a:ext cx="28072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One confirmed action.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A scoped local observation.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Its source and time retained.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551176"/>
            <a:ext cx="3227832" cy="2898648"/>
          </a:xfrm>
          <a:prstGeom prst="rect">
            <a:avLst/>
          </a:prstGeom>
          <a:solidFill>
            <a:srgbClr val="E8E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843784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200" b="1">
                <a:solidFill>
                  <a:srgbClr val="557862"/>
                </a:solidFill>
                <a:latin typeface="Liberation Sans"/>
              </a:defRPr>
            </a:pPr>
            <a:r>
              <a:t>2  USEFUL ORIENTATION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502152"/>
            <a:ext cx="28072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Report the nearby emblem.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Name visible directions.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Keep the response bounded.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9327" y="2551176"/>
            <a:ext cx="3227832" cy="2898648"/>
          </a:xfrm>
          <a:prstGeom prst="rect">
            <a:avLst/>
          </a:prstGeom>
          <a:solidFill>
            <a:srgbClr val="E4E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843784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200" b="1">
                <a:solidFill>
                  <a:srgbClr val="557862"/>
                </a:solidFill>
                <a:latin typeface="Liberation Sans"/>
              </a:defRPr>
            </a:pPr>
            <a:r>
              <a:t>3  A HUMAN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502152"/>
            <a:ext cx="28072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Compare with the atlas.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Check an uncertain branch.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800" b="0">
                <a:solidFill>
                  <a:srgbClr val="24382F"/>
                </a:solidFill>
                <a:latin typeface="Liberation Sans"/>
              </a:defRPr>
            </a:pPr>
            <a:r>
              <a:t>Replan without resetting.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900" b="0">
                <a:solidFill>
                  <a:srgbClr val="557862"/>
                </a:solidFill>
                <a:latin typeface="Liberation Sans"/>
              </a:defRPr>
            </a:pPr>
            <a:r>
              <a:t>Pause, Interrupt and End still win. A missing report leaves room to ask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384048" cy="45720"/>
          </a:xfrm>
          <a:prstGeom prst="rect">
            <a:avLst/>
          </a:prstGeom>
          <a:solidFill>
            <a:srgbClr val="B58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566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100" b="1">
                <a:solidFill>
                  <a:srgbClr val="607066"/>
                </a:solidFill>
                <a:latin typeface="Liberation Sans"/>
              </a:defRPr>
            </a:pPr>
            <a:r>
              <a:t>EVIDENCE AND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3500" b="0">
                <a:solidFill>
                  <a:srgbClr val="24382F"/>
                </a:solidFill>
                <a:latin typeface="Liberation Serif"/>
              </a:defRPr>
            </a:pPr>
            <a:r>
              <a:t>The final live result is still being established.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2823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Goal 005 draft · live acceptance 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41908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000" b="0">
                <a:solidFill>
                  <a:srgbClr val="607066"/>
                </a:solidFill>
                <a:latin typeface="Liberation Sans"/>
              </a:defRPr>
            </a:pPr>
            <a:r>
              <a:t>06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057400"/>
            <a:ext cx="6492240" cy="3502152"/>
          </a:xfrm>
          <a:prstGeom prst="rect">
            <a:avLst/>
          </a:prstGeom>
          <a:solidFill>
            <a:srgbClr val="E4E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5806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 b="1">
                <a:solidFill>
                  <a:srgbClr val="557862"/>
                </a:solidFill>
                <a:latin typeface="Liberation Sans"/>
              </a:defRPr>
            </a:pPr>
            <a:r>
              <a:t>CURRENT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35224"/>
            <a:ext cx="5815584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200" b="0">
                <a:solidFill>
                  <a:srgbClr val="24382F"/>
                </a:solidFill>
                <a:latin typeface="Liberation Sans"/>
              </a:defRPr>
            </a:pPr>
            <a:r>
              <a:t>Current images show deterministic Practice. Final-candidate Voice completion, recovery and ending evidence will replace this status after the approved batch.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95728"/>
            <a:ext cx="405079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300" b="1">
                <a:solidFill>
                  <a:srgbClr val="557862"/>
                </a:solidFill>
                <a:latin typeface="Liberation Sans"/>
              </a:defRPr>
            </a:pPr>
            <a:r>
              <a:t>LOCAL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953512"/>
            <a:ext cx="400507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000" b="0">
                <a:solidFill>
                  <a:srgbClr val="24382F"/>
                </a:solidFill>
                <a:latin typeface="Liberation Sans"/>
              </a:defRPr>
            </a:pPr>
            <a:r>
              <a:t>Playable Rescue and Training.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 b="0">
                <a:solidFill>
                  <a:srgbClr val="24382F"/>
                </a:solidFill>
                <a:latin typeface="Liberation Sans"/>
              </a:defRPr>
            </a:pPr>
            <a:r>
              <a:t>No public demo is deployed.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 b="0">
                <a:solidFill>
                  <a:srgbClr val="24382F"/>
                </a:solidFill>
                <a:latin typeface="Liberation Sans"/>
              </a:defRPr>
            </a:pPr>
            <a:r>
              <a:t>No upload or event entry is submitted.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001768"/>
            <a:ext cx="4005072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600" b="0">
                <a:solidFill>
                  <a:srgbClr val="607066"/>
                </a:solidFill>
                <a:latin typeface="Liberation Sans"/>
              </a:defRPr>
            </a:pPr>
            <a:r>
              <a:t>Synthetic QA is not a human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600" b="0">
                <a:solidFill>
                  <a:srgbClr val="607066"/>
                </a:solidFill>
                <a:latin typeface="Liberation Sans"/>
              </a:defRPr>
            </a:pPr>
            <a:r>
              <a:t>playtest or physical-device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7103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200" b="0">
                <a:solidFill>
                  <a:srgbClr val="607066"/>
                </a:solidFill>
                <a:latin typeface="Liberation Sans"/>
              </a:defRPr>
            </a:pPr>
            <a:r>
              <a:t>Evidence: artifacts/goal-005/ui/gallery-validation.json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 Me Home — a Gallery worth exploring</dc:title>
  <dc:subject>Goal 005 draft · live acceptance in progress</dc:subject>
  <dc:creator>Talk Me Home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