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original cover illustration, not a gameplay screenshot. Goal 005 local release media. Results are controlled by status.json; no public link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game/server/proposals.ts, sessions.ts and private records; existing shared contracts. Human documents and notes do not enter Pip context. Robot-local perception does not automatically position the human atlas. This is a normal gameplay split, not a developer-tools secrecy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final-build Goal 005 Practice UI, recorded separately from real Voice attempt 12. Capture is deterministic offline gameplay, not real-model completion. Planned and explored routes are deliberate private player annotations. Both authored Gallery configurations and topology remain finite; no automatically solved safe path is drawn. artifacts/goal-005/ui/final-planned-route.png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final-build Practice screenshot, not a visual mockup. Exact saved messages and original report time/source are preserved. Report freshness is server-stamped at receipt; a Relay change and change-back cannot revive a gate reading. Selected quick requests are explicitly labelled Selected request, never microphone speech. Private associations do not enter robot context. artifacts/goal-005/ui/final-historical-dynamic-stable-clue.png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server-confirmed home screenshot from synthetic-microphone real AssemblyAI Voice attempt 12. Build 2edf7914a008143843923b04a9bf3a1fe41f1f68. 11 exact UI-confirmed commits; local connected 577.2133s, provider-reported 576.923132s; ending ACK and cleanup observed. Arrival reports and bounded recovery helped this sample; permission questions and an empty response still occurred. One pass is not the required two or a statistical reliability guarantee. artifacts/goal-005/live/attempt-12-observed-home.png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batch result: one accepted Voice completion on final build; target of two not met. Attempt 13 stalled acquiring a Gallery passage report and had no ending ACK; local resources were cleaned up. All eight Goal 005 slots are consumed. Practice, fake-peer tests, selected requests and historical functional homes are not extra final-candidate passes. No claim about human enjoyment, physical audio quality, revenue, customers or statistical reliability. Public URLs intentionally remain unset. {"phase": "BATCH_COMPLETE_TARGET_NOT_MET", "displayStatus": "Goal 005 \u00b7 one final-candidate Voice pass", "acceptanceHeadline": "Home reached. Reliability still needs work.", "acceptanceCopy": "One final-candidate Voice rescue reached home with 11 exact confirmations and an ending ACK.\nA second run stalled in the Gallery without an ACK. The two-pass target remains unmet.", "verifiedBuild": "2edf7914a008143843923b04a9bf3a1fe41f1f68", "runtimeSha256": "bf8fe9ef044561064164cf537380559d1a5e92d06f290399d20c472cae6fa401", "acceptance": {"finalCandidatePasses": 1, "requiredPasses": 2, "goal005SlotsUsed": 8, "goal005SlotsRemaining": 0, "passAttempt": 12, "failedFinalAttempt": 13, "failedFinalAttemptEndAcknowledged": false}, "publicDemoUrl": null, "uploadedVideoUrl": null, "evidencePath": "docs/goal-005-gallery-live-completion.md", "uiCaptures": {"wide": "artifacts/goal-005/ui/final-planned-route.png", "report": "artifacts/goal-005/ui/final-historical-dynamic-stable-clue.png"}, "homeCapture": "artifacts/goal-005/live/attempt-12-observed-home.png", "mediaBoundary": "Separate labelled Practice UI capture and edited excerpts of only real attempt 12. Original synthetic-input/provider-playback audio retained; no generated narration or replacement speech. No human listening or physical-device verification claimed."}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8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illustration-1600x900.png"/>
          <p:cNvPicPr>
            <a:picLocks noChangeAspect="1"/>
          </p:cNvPicPr>
          <p:nvPr/>
        </p:nvPicPr>
        <p:blipFill>
          <a:blip r:embed="rId2"/>
          <a:srcRect l="53200"/>
          <a:stretch>
            <a:fillRect/>
          </a:stretch>
        </p:blipFill>
        <p:spPr>
          <a:xfrm>
            <a:off x="6492240" y="0"/>
            <a:ext cx="570585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37960" cy="6858000"/>
          </a:xfrm>
          <a:prstGeom prst="rect">
            <a:avLst/>
          </a:prstGeom>
          <a:solidFill>
            <a:srgbClr val="243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66751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300" b="1">
                <a:solidFill>
                  <a:srgbClr val="CBD3BC"/>
                </a:solidFill>
                <a:latin typeface="Liberation Sans"/>
              </a:defRPr>
            </a:pPr>
            <a:r>
              <a:t>VOICE-LED CO-OP RESCUE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5577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5900" b="0">
                <a:solidFill>
                  <a:srgbClr val="F4EEDC"/>
                </a:solidFill>
                <a:latin typeface="Liberation Serif"/>
              </a:defRPr>
            </a:pPr>
            <a:r>
              <a:t>Talk Me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5900" b="0">
                <a:solidFill>
                  <a:srgbClr val="F4EEDC"/>
                </a:solidFill>
                <a:latin typeface="Liberation Serif"/>
              </a:defRPr>
            </a:pPr>
            <a:r>
              <a:t>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749039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400" b="0">
                <a:solidFill>
                  <a:srgbClr val="EADBBC"/>
                </a:solidFill>
                <a:latin typeface="Liberation Sans"/>
              </a:defRPr>
            </a:pPr>
            <a:r>
              <a:t>You have the map.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400" b="0">
                <a:solidFill>
                  <a:srgbClr val="EADBBC"/>
                </a:solidFill>
                <a:latin typeface="Liberation Sans"/>
              </a:defRPr>
            </a:pPr>
            <a:r>
              <a:t>Pip has eyes and hands.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66360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800" b="0">
                <a:solidFill>
                  <a:srgbClr val="DCE2CE"/>
                </a:solidFill>
                <a:latin typeface="Liberation Sans"/>
              </a:defRPr>
            </a:pPr>
            <a:r>
              <a:t>Explore through conversation.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800" b="0">
                <a:solidFill>
                  <a:srgbClr val="DCE2CE"/>
                </a:solidFill>
                <a:latin typeface="Liberation Sans"/>
              </a:defRPr>
            </a:pPr>
            <a:r>
              <a:t>Choose the route. Confirm the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43737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CBD3BC"/>
                </a:solidFill>
                <a:latin typeface="Liberation Sans"/>
              </a:defRPr>
            </a:pPr>
            <a:r>
              <a:t>Goal 005 · one final-candidate Voice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384048" cy="45720"/>
          </a:xfrm>
          <a:prstGeom prst="rect">
            <a:avLst/>
          </a:prstGeom>
          <a:solidFill>
            <a:srgbClr val="B58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5661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100" b="1">
                <a:solidFill>
                  <a:srgbClr val="607066"/>
                </a:solidFill>
                <a:latin typeface="Liberation Sans"/>
              </a:defRPr>
            </a:pPr>
            <a:r>
              <a:t>THE COOPERATION PREMISE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7782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3500" b="0">
                <a:solidFill>
                  <a:srgbClr val="24382F"/>
                </a:solidFill>
                <a:latin typeface="Liberation Serif"/>
              </a:defRPr>
            </a:pPr>
            <a:r>
              <a:t>Neither partner has the whole picture.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19072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Three chapters: Cargo Bay → Relay Gallery → Return Dock.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28232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Goal 005 · one final-candidate Voice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3344" y="64190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02 /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423160"/>
            <a:ext cx="5276088" cy="3182112"/>
          </a:xfrm>
          <a:prstGeom prst="rect">
            <a:avLst/>
          </a:prstGeom>
          <a:solidFill>
            <a:srgbClr val="E8E1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2491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500" b="1">
                <a:solidFill>
                  <a:srgbClr val="557862"/>
                </a:solidFill>
                <a:latin typeface="Liberation Sans"/>
              </a:defRPr>
            </a:pPr>
            <a:r>
              <a:t>MISSION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19272"/>
            <a:ext cx="46634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300" b="0">
                <a:solidFill>
                  <a:srgbClr val="24382F"/>
                </a:solidFill>
                <a:latin typeface="Liberation Sans"/>
              </a:defRPr>
            </a:pPr>
            <a:r>
              <a:t>Read private documents.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300" b="0">
                <a:solidFill>
                  <a:srgbClr val="24382F"/>
                </a:solidFill>
                <a:latin typeface="Liberation Sans"/>
              </a:defRPr>
            </a:pPr>
            <a:r>
              <a:t>Choose a route.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300" b="0">
                <a:solidFill>
                  <a:srgbClr val="24382F"/>
                </a:solidFill>
                <a:latin typeface="Liberation Sans"/>
              </a:defRPr>
            </a:pPr>
            <a:r>
              <a:t>Set remote equipment.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138928"/>
            <a:ext cx="46634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500" b="0">
                <a:solidFill>
                  <a:srgbClr val="607066"/>
                </a:solidFill>
                <a:latin typeface="Liberation Sans"/>
              </a:defRPr>
            </a:pPr>
            <a:r>
              <a:t>Confirm each exact physical proposal.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423160"/>
            <a:ext cx="5276088" cy="3182112"/>
          </a:xfrm>
          <a:prstGeom prst="rect">
            <a:avLst/>
          </a:prstGeom>
          <a:solidFill>
            <a:srgbClr val="E4E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72491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500" b="1">
                <a:solidFill>
                  <a:srgbClr val="557862"/>
                </a:solidFill>
                <a:latin typeface="Liberation Sans"/>
              </a:defRPr>
            </a:pPr>
            <a:r>
              <a:t>PIP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319272"/>
            <a:ext cx="46634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300" b="0">
                <a:solidFill>
                  <a:srgbClr val="24382F"/>
                </a:solidFill>
                <a:latin typeface="Liberation Sans"/>
              </a:defRPr>
            </a:pPr>
            <a:r>
              <a:t>Observe nearby rooms.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300" b="0">
                <a:solidFill>
                  <a:srgbClr val="24382F"/>
                </a:solidFill>
                <a:latin typeface="Liberation Sans"/>
              </a:defRPr>
            </a:pPr>
            <a:r>
              <a:t>Report what is known.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300" b="0">
                <a:solidFill>
                  <a:srgbClr val="24382F"/>
                </a:solidFill>
                <a:latin typeface="Liberation Sans"/>
              </a:defRPr>
            </a:pPr>
            <a:r>
              <a:t>Propose a local 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5138928"/>
            <a:ext cx="46634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500" b="0">
                <a:solidFill>
                  <a:srgbClr val="607066"/>
                </a:solidFill>
                <a:latin typeface="Liberation Sans"/>
              </a:defRPr>
            </a:pPr>
            <a:r>
              <a:t>Looking and checking need no permission.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25312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557862"/>
                </a:solidFill>
                <a:latin typeface="Liberation Sans"/>
              </a:defRPr>
            </a:pPr>
            <a:r>
              <a:t>The server validates the current conditions. Spoken agreement does not press Confirm.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384048" cy="45720"/>
          </a:xfrm>
          <a:prstGeom prst="rect">
            <a:avLst/>
          </a:prstGeom>
          <a:solidFill>
            <a:srgbClr val="B58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5661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100" b="1">
                <a:solidFill>
                  <a:srgbClr val="607066"/>
                </a:solidFill>
                <a:latin typeface="Liberation Sans"/>
              </a:defRPr>
            </a:pPr>
            <a:r>
              <a:t>A GALLERY WORTH EXPLORING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7782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3500" b="0">
                <a:solidFill>
                  <a:srgbClr val="24382F"/>
                </a:solidFill>
                <a:latin typeface="Liberation Serif"/>
              </a:defRPr>
            </a:pPr>
            <a:r>
              <a:t>Let a report change your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19072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Distinct emblems. Fixed compass. Circuit patterns. Your own route marks.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28232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Goal 005 · one final-candidate Voice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3344" y="64190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03 / 06</a:t>
            </a:r>
          </a:p>
        </p:txBody>
      </p:sp>
      <p:pic>
        <p:nvPicPr>
          <p:cNvPr id="8" name="Picture 7" descr="final-planned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676" y="2313432"/>
            <a:ext cx="6860031" cy="3858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25146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300" b="1">
                <a:solidFill>
                  <a:srgbClr val="557862"/>
                </a:solidFill>
                <a:latin typeface="Liberation Sans"/>
              </a:defRPr>
            </a:pPr>
            <a: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962656"/>
            <a:ext cx="2871216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000" b="0">
                <a:solidFill>
                  <a:srgbClr val="24382F"/>
                </a:solidFill>
                <a:latin typeface="Liberation Sans"/>
              </a:defRPr>
            </a:pPr>
            <a:r>
              <a:t>Mark a corridor.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000" b="0">
                <a:solidFill>
                  <a:srgbClr val="24382F"/>
                </a:solidFill>
                <a:latin typeface="Liberation Sans"/>
              </a:defRPr>
            </a:pPr>
            <a:r>
              <a:t>Revise the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27024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300" b="1">
                <a:solidFill>
                  <a:srgbClr val="557862"/>
                </a:solidFill>
                <a:latin typeface="Liberation Sans"/>
              </a:defRPr>
            </a:pPr>
            <a:r>
              <a:t>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709160"/>
            <a:ext cx="2871216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800" b="0">
                <a:solidFill>
                  <a:srgbClr val="24382F"/>
                </a:solidFill>
                <a:latin typeface="Liberation Sans"/>
              </a:defRPr>
            </a:pPr>
            <a:r>
              <a:t>Keep explored paths and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800" b="0">
                <a:solidFill>
                  <a:srgbClr val="24382F"/>
                </a:solidFill>
                <a:latin typeface="Liberation Sans"/>
              </a:defRPr>
            </a:pPr>
            <a:r>
              <a:t>reported obstructions distinct.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384048" cy="45720"/>
          </a:xfrm>
          <a:prstGeom prst="rect">
            <a:avLst/>
          </a:prstGeom>
          <a:solidFill>
            <a:srgbClr val="B58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5661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100" b="1">
                <a:solidFill>
                  <a:srgbClr val="607066"/>
                </a:solidFill>
                <a:latin typeface="Liberation Sans"/>
              </a:defRPr>
            </a:pPr>
            <a:r>
              <a:t>USEFUL FIELD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7782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3500" b="0">
                <a:solidFill>
                  <a:srgbClr val="24382F"/>
                </a:solidFill>
                <a:latin typeface="Liberation Serif"/>
              </a:defRPr>
            </a:pPr>
            <a:r>
              <a:t>Exact words, with their source and 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19072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A report is a communicated claim, not a live sensor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28232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Goal 005 · one final-candidate Voice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3344" y="64190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04 / 06</a:t>
            </a:r>
          </a:p>
        </p:txBody>
      </p:sp>
      <p:pic>
        <p:nvPicPr>
          <p:cNvPr id="8" name="Picture 7" descr="final-historical-dynamic-stable-c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56" y="2377440"/>
            <a:ext cx="6860031" cy="3858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10144" y="2615184"/>
            <a:ext cx="349300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400" b="0">
                <a:solidFill>
                  <a:srgbClr val="24382F"/>
                </a:solidFill>
                <a:latin typeface="Liberation Serif"/>
              </a:defRPr>
            </a:pPr>
            <a:r>
              <a:t>Keep the quote.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3136392"/>
            <a:ext cx="349300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Attach it to a room or corridor.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The association belongs to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4334256"/>
            <a:ext cx="349300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400" b="0">
                <a:solidFill>
                  <a:srgbClr val="24382F"/>
                </a:solidFill>
                <a:latin typeface="Liberation Serif"/>
              </a:defRPr>
            </a:pPr>
            <a:r>
              <a:t>Recheck what changed.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4846320"/>
            <a:ext cx="3493008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600" b="0">
                <a:solidFill>
                  <a:srgbClr val="607066"/>
                </a:solidFill>
                <a:latin typeface="Liberation Sans"/>
              </a:defRPr>
            </a:pPr>
            <a:r>
              <a:t>Relay changes age gate notes.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 b="0">
                <a:solidFill>
                  <a:srgbClr val="607066"/>
                </a:solidFill>
                <a:latin typeface="Liberation Sans"/>
              </a:defRPr>
            </a:pPr>
            <a:r>
              <a:t>Stable clues remain historical quotes.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 b="0">
                <a:solidFill>
                  <a:srgbClr val="607066"/>
                </a:solidFill>
                <a:latin typeface="Liberation Sans"/>
              </a:defRPr>
            </a:pPr>
            <a:r>
              <a:t>Ask for a fresh surroundings 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384048" cy="45720"/>
          </a:xfrm>
          <a:prstGeom prst="rect">
            <a:avLst/>
          </a:prstGeom>
          <a:solidFill>
            <a:srgbClr val="B58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5661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100" b="1">
                <a:solidFill>
                  <a:srgbClr val="607066"/>
                </a:solidFill>
                <a:latin typeface="Liberation Sans"/>
              </a:defRPr>
            </a:pPr>
            <a:r>
              <a:t>AN ACTUAL RESCUE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7782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3500" b="0">
                <a:solidFill>
                  <a:srgbClr val="24382F"/>
                </a:solidFill>
                <a:latin typeface="Liberation Serif"/>
              </a:defRPr>
            </a:pPr>
            <a:r>
              <a:t>A blocked passage can change the route.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19072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Real Voice attempt 12: a backtrack, a recovered request, and confirmed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28232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Goal 005 · one final-candidate Voice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3344" y="64190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05 / 06</a:t>
            </a:r>
          </a:p>
        </p:txBody>
      </p:sp>
      <p:pic>
        <p:nvPicPr>
          <p:cNvPr id="8" name="Picture 7" descr="attempt-12-observed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237" y="2304288"/>
            <a:ext cx="6174028" cy="3858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75320" y="258775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300" b="1">
                <a:solidFill>
                  <a:srgbClr val="557862"/>
                </a:solidFill>
                <a:latin typeface="Liberation Sans"/>
              </a:defRPr>
            </a:pPr>
            <a:r>
              <a:t>ONE COMPLETE RESCUE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172968"/>
            <a:ext cx="3246120" cy="1399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900" b="0">
                <a:solidFill>
                  <a:srgbClr val="24382F"/>
                </a:solidFill>
                <a:latin typeface="Liberation Sans"/>
              </a:defRPr>
            </a:pPr>
            <a:r>
              <a:t>Eleven exact confirmations.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900" b="0">
                <a:solidFill>
                  <a:srgbClr val="24382F"/>
                </a:solidFill>
                <a:latin typeface="Liberation Sans"/>
              </a:defRPr>
            </a:pPr>
            <a:r>
              <a:t>Useful arrival reports.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900" b="0">
                <a:solidFill>
                  <a:srgbClr val="24382F"/>
                </a:solidFill>
                <a:latin typeface="Liberation Sans"/>
              </a:defRPr>
            </a:pPr>
            <a:r>
              <a:t>A way around blocked cargo.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065776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Home, playback drain and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700" b="0">
                <a:solidFill>
                  <a:srgbClr val="607066"/>
                </a:solidFill>
                <a:latin typeface="Liberation Sans"/>
              </a:defRPr>
            </a:pPr>
            <a:r>
              <a:t>ending ACK observed.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384048" cy="45720"/>
          </a:xfrm>
          <a:prstGeom prst="rect">
            <a:avLst/>
          </a:prstGeom>
          <a:solidFill>
            <a:srgbClr val="B58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5661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100" b="1">
                <a:solidFill>
                  <a:srgbClr val="607066"/>
                </a:solidFill>
                <a:latin typeface="Liberation Sans"/>
              </a:defRPr>
            </a:pPr>
            <a:r>
              <a:t>EVIDENCE AND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7782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3500" b="0">
                <a:solidFill>
                  <a:srgbClr val="24382F"/>
                </a:solidFill>
                <a:latin typeface="Liberation Serif"/>
              </a:defRPr>
            </a:pPr>
            <a:r>
              <a:t>Home reached. Reliability still needs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428232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Goal 005 · one final-candidate Voice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53344" y="64190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000" b="0">
                <a:solidFill>
                  <a:srgbClr val="607066"/>
                </a:solidFill>
                <a:latin typeface="Liberation Sans"/>
              </a:defRPr>
            </a:pPr>
            <a:r>
              <a:t>06 / 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057400"/>
            <a:ext cx="6492240" cy="3502152"/>
          </a:xfrm>
          <a:prstGeom prst="rect">
            <a:avLst/>
          </a:prstGeom>
          <a:solidFill>
            <a:srgbClr val="E4E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5806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300" b="1">
                <a:solidFill>
                  <a:srgbClr val="557862"/>
                </a:solidFill>
                <a:latin typeface="Liberation Sans"/>
              </a:defRPr>
            </a:pPr>
            <a:r>
              <a:t>CURRENT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35224"/>
            <a:ext cx="5815584" cy="2029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200" b="0">
                <a:solidFill>
                  <a:srgbClr val="24382F"/>
                </a:solidFill>
                <a:latin typeface="Liberation Sans"/>
              </a:defRPr>
            </a:pPr>
            <a:r>
              <a:t>One final-candidate Voice rescue reached home with 11 exact confirmations and an ending ACK.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200" b="0">
                <a:solidFill>
                  <a:srgbClr val="24382F"/>
                </a:solidFill>
                <a:latin typeface="Liberation Sans"/>
              </a:defRPr>
            </a:pPr>
            <a:r>
              <a:t>A second run stalled in the Gallery without an ACK. The two-pass target remains unmet.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395728"/>
            <a:ext cx="405079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300" b="1">
                <a:solidFill>
                  <a:srgbClr val="557862"/>
                </a:solidFill>
                <a:latin typeface="Liberation Sans"/>
              </a:defRPr>
            </a:pPr>
            <a:r>
              <a:t>LOCAL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953512"/>
            <a:ext cx="4005072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2000" b="0">
                <a:solidFill>
                  <a:srgbClr val="24382F"/>
                </a:solidFill>
                <a:latin typeface="Liberation Sans"/>
              </a:defRPr>
            </a:pPr>
            <a:r>
              <a:t>Playable Rescue and Training.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000" b="0">
                <a:solidFill>
                  <a:srgbClr val="24382F"/>
                </a:solidFill>
                <a:latin typeface="Liberation Sans"/>
              </a:defRPr>
            </a:pPr>
            <a:r>
              <a:t>No public demo is deployed.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2000" b="0">
                <a:solidFill>
                  <a:srgbClr val="24382F"/>
                </a:solidFill>
                <a:latin typeface="Liberation Sans"/>
              </a:defRPr>
            </a:pPr>
            <a:r>
              <a:t>No upload or event entry is submitted.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01768"/>
            <a:ext cx="4005072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600" b="0">
                <a:solidFill>
                  <a:srgbClr val="607066"/>
                </a:solidFill>
                <a:latin typeface="Liberation Sans"/>
              </a:defRPr>
            </a:pPr>
            <a:r>
              <a:t>Synthetic QA is not a human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 b="0">
                <a:solidFill>
                  <a:srgbClr val="607066"/>
                </a:solidFill>
                <a:latin typeface="Liberation Sans"/>
              </a:defRPr>
            </a:pPr>
            <a:r>
              <a:t>playtest or physical-device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7103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200" b="0">
                <a:solidFill>
                  <a:srgbClr val="607066"/>
                </a:solidFill>
                <a:latin typeface="Liberation Sans"/>
              </a:defRPr>
            </a:pPr>
            <a:r>
              <a:t>Evidence: docs/goal-005-gallery-live-completion.md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Me Home — a Gallery worth exploring</dc:title>
  <dc:subject>Goal 005 · one final-candidate Voice pass</dc:subject>
  <dc:creator>Talk Me Home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