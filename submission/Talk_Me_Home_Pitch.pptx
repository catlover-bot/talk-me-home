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submission/project-description.md; existing original cover illustration. Artwork is not gameplay evidence. Native title and body text remain editable. Contract: spoken/text coordination plus explicit owner UI confirmation, never hands-free permission inference.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game/shared/contracts.ts, game/server/proposals.ts and sessions.ts; current project description. The human does not receive a live local robot survey; Pip does not receive the human manual, atlas, notes or hidden solution. This is a normal gameplay information split, not a browser developer-tools security claim.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newly captured local compiled production Practice, from the follow-up build recorded in submission/local-deliverables/provenance.json. Deterministic typed Practice is offline and is not evidence of real model completion. Chapters and authored mechanics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UI screenshot is an actual local Practice screen, not a recreated mockup. Sources: ActionProposalStrip/useMission, SessionStore exact immutable proposals. Read-only calls do not require confirmation. Follow-up adds a bounded acknowledgement opportunity, without issuing a second result for the original tool call or auto-confirming another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evidence: artifacts/goal-004e/live/2026-09-28T10-24-13-651Z-voice-mission-conversation.md and live-media.json, execution bb6dfd2181503415a14c440c52dd762db88f5e3c. Three unconfirmed inputs produced zero physical change, then one exact Latch confirmation committed once; Rescue failed. One session.end/session.ended and zero cleanup survivors. Follow-up offline tests and build identity are in current validation/provenance; no new provider use. No physical microphone, loudspeaker, human natural completion or enjoyment result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source: OWNER_ACTIONS.md and submission/release-checklist.md. Local Practice and offline release do not establish public HTTPS or judge access. No live URL is invented. No new provider use, deployment, hosting purchase, repository visibility change, upload or event submission. Exhausted linked C/D/E QA allowance remains historical and is not a public-player allowance. RELEASE_NOT_LIVE_VERIFIED.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382F"/>
        </a:solidFill>
        <a:effectLst/>
      </p:bgPr>
    </p:bg>
    <p:spTree>
      <p:nvGrpSpPr>
        <p:cNvPr id="1" name=""/>
        <p:cNvGrpSpPr/>
        <p:nvPr/>
      </p:nvGrpSpPr>
      <p:grpSpPr/>
      <p:pic>
        <p:nvPicPr>
          <p:cNvPr id="2" name="Picture 1" descr="cover-illustration-1600x900.png"/>
          <p:cNvPicPr>
            <a:picLocks noChangeAspect="1"/>
          </p:cNvPicPr>
          <p:nvPr/>
        </p:nvPicPr>
        <p:blipFill>
          <a:blip r:embed="rId2"/>
          <a:srcRect l="53200"/>
          <a:stretch>
            <a:fillRect/>
          </a:stretch>
        </p:blipFill>
        <p:spPr>
          <a:xfrm>
            <a:off x="6492240" y="0"/>
            <a:ext cx="5705856" cy="6858000"/>
          </a:xfrm>
          <a:prstGeom prst="rect">
            <a:avLst/>
          </a:prstGeom>
        </p:spPr>
      </p:pic>
      <p:sp>
        <p:nvSpPr>
          <p:cNvPr id="3" name="Rectangle 2"/>
          <p:cNvSpPr/>
          <p:nvPr/>
        </p:nvSpPr>
        <p:spPr>
          <a:xfrm>
            <a:off x="0" y="0"/>
            <a:ext cx="6537960" cy="6858000"/>
          </a:xfrm>
          <a:prstGeom prst="rect">
            <a:avLst/>
          </a:prstGeom>
          <a:solidFill>
            <a:srgbClr val="243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76656"/>
            <a:ext cx="5486400" cy="411480"/>
          </a:xfrm>
          <a:prstGeom prst="rect">
            <a:avLst/>
          </a:prstGeom>
          <a:noFill/>
        </p:spPr>
        <p:txBody>
          <a:bodyPr wrap="square" lIns="0" rIns="0" tIns="0" bIns="0" anchor="t">
            <a:spAutoFit/>
          </a:bodyPr>
          <a:lstStyle/>
          <a:p>
            <a:pPr>
              <a:lnSpc>
                <a:spcPct val="108000"/>
              </a:lnSpc>
              <a:spcAft>
                <a:spcPts val="700"/>
              </a:spcAft>
              <a:defRPr sz="1200" b="1">
                <a:solidFill>
                  <a:srgbClr val="CBD3BC"/>
                </a:solidFill>
                <a:latin typeface="Liberation Sans"/>
              </a:defRPr>
            </a:pPr>
            <a:r>
              <a:t>A VOICE-LED CO-OP RESCUE GAME</a:t>
            </a:r>
          </a:p>
        </p:txBody>
      </p:sp>
      <p:sp>
        <p:nvSpPr>
          <p:cNvPr id="5" name="TextBox 4"/>
          <p:cNvSpPr txBox="1"/>
          <p:nvPr/>
        </p:nvSpPr>
        <p:spPr>
          <a:xfrm>
            <a:off x="667512" y="1344168"/>
            <a:ext cx="5669280" cy="1965960"/>
          </a:xfrm>
          <a:prstGeom prst="rect">
            <a:avLst/>
          </a:prstGeom>
          <a:noFill/>
        </p:spPr>
        <p:txBody>
          <a:bodyPr wrap="square" lIns="0" rIns="0" tIns="0" bIns="0" anchor="t">
            <a:spAutoFit/>
          </a:bodyPr>
          <a:lstStyle/>
          <a:p>
            <a:pPr>
              <a:lnSpc>
                <a:spcPct val="108000"/>
              </a:lnSpc>
              <a:spcAft>
                <a:spcPts val="700"/>
              </a:spcAft>
              <a:defRPr sz="5900" b="0">
                <a:solidFill>
                  <a:srgbClr val="F4EEDC"/>
                </a:solidFill>
                <a:latin typeface="Liberation Serif"/>
              </a:defRPr>
            </a:pPr>
            <a:r>
              <a:t>Talk Me</a:t>
            </a:r>
          </a:p>
          <a:p>
            <a:pPr>
              <a:lnSpc>
                <a:spcPct val="108000"/>
              </a:lnSpc>
              <a:spcAft>
                <a:spcPts val="700"/>
              </a:spcAft>
              <a:defRPr sz="5900" b="0">
                <a:solidFill>
                  <a:srgbClr val="F4EEDC"/>
                </a:solidFill>
                <a:latin typeface="Liberation Serif"/>
              </a:defRPr>
            </a:pPr>
            <a:r>
              <a:t>Home.</a:t>
            </a:r>
          </a:p>
        </p:txBody>
      </p:sp>
      <p:sp>
        <p:nvSpPr>
          <p:cNvPr id="6" name="TextBox 5"/>
          <p:cNvSpPr txBox="1"/>
          <p:nvPr/>
        </p:nvSpPr>
        <p:spPr>
          <a:xfrm>
            <a:off x="713232" y="3749039"/>
            <a:ext cx="5212080" cy="914400"/>
          </a:xfrm>
          <a:prstGeom prst="rect">
            <a:avLst/>
          </a:prstGeom>
          <a:noFill/>
        </p:spPr>
        <p:txBody>
          <a:bodyPr wrap="square" lIns="0" rIns="0" tIns="0" bIns="0" anchor="t">
            <a:spAutoFit/>
          </a:bodyPr>
          <a:lstStyle/>
          <a:p>
            <a:pPr>
              <a:lnSpc>
                <a:spcPct val="108000"/>
              </a:lnSpc>
              <a:spcAft>
                <a:spcPts val="700"/>
              </a:spcAft>
              <a:defRPr sz="2400" b="0">
                <a:solidFill>
                  <a:srgbClr val="EADBBC"/>
                </a:solidFill>
                <a:latin typeface="Liberation Sans"/>
              </a:defRPr>
            </a:pPr>
            <a:r>
              <a:t>You have the map.</a:t>
            </a:r>
          </a:p>
          <a:p>
            <a:pPr>
              <a:lnSpc>
                <a:spcPct val="108000"/>
              </a:lnSpc>
              <a:spcAft>
                <a:spcPts val="700"/>
              </a:spcAft>
              <a:defRPr sz="2400" b="0">
                <a:solidFill>
                  <a:srgbClr val="EADBBC"/>
                </a:solidFill>
                <a:latin typeface="Liberation Sans"/>
              </a:defRPr>
            </a:pPr>
            <a:r>
              <a:t>Pip has eyes and hands.</a:t>
            </a:r>
          </a:p>
        </p:txBody>
      </p:sp>
      <p:sp>
        <p:nvSpPr>
          <p:cNvPr id="7" name="TextBox 6"/>
          <p:cNvSpPr txBox="1"/>
          <p:nvPr/>
        </p:nvSpPr>
        <p:spPr>
          <a:xfrm>
            <a:off x="713232" y="5166360"/>
            <a:ext cx="5394960" cy="868680"/>
          </a:xfrm>
          <a:prstGeom prst="rect">
            <a:avLst/>
          </a:prstGeom>
          <a:noFill/>
        </p:spPr>
        <p:txBody>
          <a:bodyPr wrap="square" lIns="0" rIns="0" tIns="0" bIns="0" anchor="t">
            <a:spAutoFit/>
          </a:bodyPr>
          <a:lstStyle/>
          <a:p>
            <a:pPr>
              <a:lnSpc>
                <a:spcPct val="108000"/>
              </a:lnSpc>
              <a:spcAft>
                <a:spcPts val="700"/>
              </a:spcAft>
              <a:defRPr sz="1700" b="0">
                <a:solidFill>
                  <a:srgbClr val="DCE2CE"/>
                </a:solidFill>
                <a:latin typeface="Liberation Sans"/>
              </a:defRPr>
            </a:pPr>
            <a:r>
              <a:t>Share clues. Choose a plan.</a:t>
            </a:r>
          </a:p>
          <a:p>
            <a:pPr>
              <a:lnSpc>
                <a:spcPct val="108000"/>
              </a:lnSpc>
              <a:spcAft>
                <a:spcPts val="700"/>
              </a:spcAft>
              <a:defRPr sz="1700" b="0">
                <a:solidFill>
                  <a:srgbClr val="DCE2CE"/>
                </a:solidFill>
                <a:latin typeface="Liberation Sans"/>
              </a:defRPr>
            </a:pPr>
            <a:r>
              <a:t>Confirm each proposed action on the console.</a:t>
            </a:r>
          </a:p>
        </p:txBody>
      </p:sp>
      <p:sp>
        <p:nvSpPr>
          <p:cNvPr id="8" name="TextBox 7"/>
          <p:cNvSpPr txBox="1"/>
          <p:nvPr/>
        </p:nvSpPr>
        <p:spPr>
          <a:xfrm>
            <a:off x="713232" y="6437376"/>
            <a:ext cx="5486400" cy="228600"/>
          </a:xfrm>
          <a:prstGeom prst="rect">
            <a:avLst/>
          </a:prstGeom>
          <a:noFill/>
        </p:spPr>
        <p:txBody>
          <a:bodyPr wrap="square" lIns="0" rIns="0" tIns="0" bIns="0" anchor="t">
            <a:spAutoFit/>
          </a:bodyPr>
          <a:lstStyle/>
          <a:p>
            <a:pPr>
              <a:lnSpc>
                <a:spcPct val="108000"/>
              </a:lnSpc>
              <a:spcAft>
                <a:spcPts val="700"/>
              </a:spcAft>
              <a:defRPr sz="1000" b="0">
                <a:solidFill>
                  <a:srgbClr val="CBD3BC"/>
                </a:solidFill>
                <a:latin typeface="Liberation Sans"/>
              </a:defRPr>
            </a:pPr>
            <a:r>
              <a:t>Original game artwork · local submission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48056"/>
            <a:ext cx="384048" cy="50292"/>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56616"/>
            <a:ext cx="9144000" cy="320040"/>
          </a:xfrm>
          <a:prstGeom prst="rect">
            <a:avLst/>
          </a:prstGeom>
          <a:noFill/>
        </p:spPr>
        <p:txBody>
          <a:bodyPr wrap="square" lIns="0" rIns="0" tIns="0" bIns="0" anchor="t">
            <a:spAutoFit/>
          </a:bodyPr>
          <a:lstStyle/>
          <a:p>
            <a:pPr>
              <a:lnSpc>
                <a:spcPct val="108000"/>
              </a:lnSpc>
              <a:spcAft>
                <a:spcPts val="700"/>
              </a:spcAft>
              <a:defRPr sz="1100" b="1">
                <a:solidFill>
                  <a:srgbClr val="607066"/>
                </a:solidFill>
                <a:latin typeface="Liberation Sans"/>
              </a:defRPr>
            </a:pPr>
            <a:r>
              <a:t>THE COOPERATION PREMISE</a:t>
            </a:r>
          </a:p>
        </p:txBody>
      </p:sp>
      <p:sp>
        <p:nvSpPr>
          <p:cNvPr id="4" name="TextBox 3"/>
          <p:cNvSpPr txBox="1"/>
          <p:nvPr/>
        </p:nvSpPr>
        <p:spPr>
          <a:xfrm>
            <a:off x="594360" y="859536"/>
            <a:ext cx="10972800" cy="914400"/>
          </a:xfrm>
          <a:prstGeom prst="rect">
            <a:avLst/>
          </a:prstGeom>
          <a:noFill/>
        </p:spPr>
        <p:txBody>
          <a:bodyPr wrap="square" lIns="0" rIns="0" tIns="0" bIns="0" anchor="t">
            <a:spAutoFit/>
          </a:bodyPr>
          <a:lstStyle/>
          <a:p>
            <a:pPr>
              <a:lnSpc>
                <a:spcPct val="108000"/>
              </a:lnSpc>
              <a:spcAft>
                <a:spcPts val="700"/>
              </a:spcAft>
              <a:defRPr sz="3600" b="0">
                <a:solidFill>
                  <a:srgbClr val="24382F"/>
                </a:solidFill>
                <a:latin typeface="Liberation Serif"/>
              </a:defRPr>
            </a:pPr>
            <a:r>
              <a:t>Neither partner has the whole picture.</a:t>
            </a:r>
          </a:p>
        </p:txBody>
      </p:sp>
      <p:sp>
        <p:nvSpPr>
          <p:cNvPr id="5" name="TextBox 4"/>
          <p:cNvSpPr txBox="1"/>
          <p:nvPr/>
        </p:nvSpPr>
        <p:spPr>
          <a:xfrm>
            <a:off x="621792" y="1691640"/>
            <a:ext cx="10881360" cy="502920"/>
          </a:xfrm>
          <a:prstGeom prst="rect">
            <a:avLst/>
          </a:prstGeom>
          <a:noFill/>
        </p:spPr>
        <p:txBody>
          <a:bodyPr wrap="square" lIns="0" rIns="0" tIns="0" bIns="0" anchor="t">
            <a:spAutoFit/>
          </a:bodyPr>
          <a:lstStyle/>
          <a:p>
            <a:pPr>
              <a:lnSpc>
                <a:spcPct val="108000"/>
              </a:lnSpc>
              <a:spcAft>
                <a:spcPts val="700"/>
              </a:spcAft>
              <a:defRPr sz="1700" b="0">
                <a:solidFill>
                  <a:srgbClr val="607066"/>
                </a:solidFill>
                <a:latin typeface="Liberation Sans"/>
              </a:defRPr>
            </a:pPr>
            <a:r>
              <a:t>Conversation connects a reference map with a local point of view.</a:t>
            </a:r>
          </a:p>
        </p:txBody>
      </p:sp>
      <p:sp>
        <p:nvSpPr>
          <p:cNvPr id="6" name="TextBox 5"/>
          <p:cNvSpPr txBox="1"/>
          <p:nvPr/>
        </p:nvSpPr>
        <p:spPr>
          <a:xfrm>
            <a:off x="621792" y="6437376"/>
            <a:ext cx="6400800" cy="201168"/>
          </a:xfrm>
          <a:prstGeom prst="rect">
            <a:avLst/>
          </a:prstGeom>
          <a:noFill/>
        </p:spPr>
        <p:txBody>
          <a:bodyPr wrap="square" lIns="0" rIns="0" tIns="0" bIns="0" anchor="t">
            <a:spAutoFit/>
          </a:bodyPr>
          <a:lstStyle/>
          <a:p>
            <a:pPr>
              <a:lnSpc>
                <a:spcPct val="108000"/>
              </a:lnSpc>
              <a:spcAft>
                <a:spcPts val="700"/>
              </a:spcAft>
              <a:defRPr sz="900" b="1">
                <a:solidFill>
                  <a:srgbClr val="607066"/>
                </a:solidFill>
                <a:latin typeface="Liberation Sans"/>
              </a:defRPr>
            </a:pPr>
            <a:r>
              <a:t>TALK ME HOME</a:t>
            </a:r>
          </a:p>
        </p:txBody>
      </p:sp>
      <p:sp>
        <p:nvSpPr>
          <p:cNvPr id="7" name="TextBox 6"/>
          <p:cNvSpPr txBox="1"/>
          <p:nvPr/>
        </p:nvSpPr>
        <p:spPr>
          <a:xfrm>
            <a:off x="10744200" y="6419088"/>
            <a:ext cx="822960" cy="228600"/>
          </a:xfrm>
          <a:prstGeom prst="rect">
            <a:avLst/>
          </a:prstGeom>
          <a:noFill/>
        </p:spPr>
        <p:txBody>
          <a:bodyPr wrap="square" lIns="0" rIns="0" tIns="0" bIns="0" anchor="t">
            <a:spAutoFit/>
          </a:bodyPr>
          <a:lstStyle/>
          <a:p>
            <a:pPr>
              <a:lnSpc>
                <a:spcPct val="108000"/>
              </a:lnSpc>
              <a:spcAft>
                <a:spcPts val="700"/>
              </a:spcAft>
              <a:defRPr sz="1000" b="0">
                <a:solidFill>
                  <a:srgbClr val="607066"/>
                </a:solidFill>
                <a:latin typeface="Liberation Sans"/>
              </a:defRPr>
            </a:pPr>
            <a:r>
              <a:t>02 / 06</a:t>
            </a:r>
          </a:p>
        </p:txBody>
      </p:sp>
      <p:sp>
        <p:nvSpPr>
          <p:cNvPr id="8" name="Rounded Rectangle 7"/>
          <p:cNvSpPr/>
          <p:nvPr/>
        </p:nvSpPr>
        <p:spPr>
          <a:xfrm>
            <a:off x="621792" y="2450592"/>
            <a:ext cx="5257800" cy="3108960"/>
          </a:xfrm>
          <a:prstGeom prst="roundRect">
            <a:avLst>
              <a:gd name="adj" fmla="val 8000"/>
            </a:avLst>
          </a:prstGeom>
          <a:solidFill>
            <a:srgbClr val="E8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0216" y="2450592"/>
            <a:ext cx="5257800" cy="3108960"/>
          </a:xfrm>
          <a:prstGeom prst="roundRect">
            <a:avLst>
              <a:gd name="adj" fmla="val 8000"/>
            </a:avLst>
          </a:prstGeom>
          <a:solidFill>
            <a:srgbClr val="E4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761488"/>
            <a:ext cx="4572000" cy="384048"/>
          </a:xfrm>
          <a:prstGeom prst="rect">
            <a:avLst/>
          </a:prstGeom>
          <a:noFill/>
        </p:spPr>
        <p:txBody>
          <a:bodyPr wrap="square" lIns="0" rIns="0" tIns="0" bIns="0" anchor="t">
            <a:spAutoFit/>
          </a:bodyPr>
          <a:lstStyle/>
          <a:p>
            <a:pPr>
              <a:lnSpc>
                <a:spcPct val="108000"/>
              </a:lnSpc>
              <a:spcAft>
                <a:spcPts val="700"/>
              </a:spcAft>
              <a:defRPr sz="1500" b="1">
                <a:solidFill>
                  <a:srgbClr val="557862"/>
                </a:solidFill>
                <a:latin typeface="Liberation Sans"/>
              </a:defRPr>
            </a:pPr>
            <a:r>
              <a:t>MISSION CONTROL</a:t>
            </a:r>
          </a:p>
        </p:txBody>
      </p:sp>
      <p:sp>
        <p:nvSpPr>
          <p:cNvPr id="11" name="TextBox 10"/>
          <p:cNvSpPr txBox="1"/>
          <p:nvPr/>
        </p:nvSpPr>
        <p:spPr>
          <a:xfrm>
            <a:off x="896112" y="3410712"/>
            <a:ext cx="4663440" cy="1645920"/>
          </a:xfrm>
          <a:prstGeom prst="rect">
            <a:avLst/>
          </a:prstGeom>
          <a:noFill/>
        </p:spPr>
        <p:txBody>
          <a:bodyPr wrap="square" lIns="0" rIns="0" tIns="0" bIns="0" anchor="t">
            <a:spAutoFit/>
          </a:bodyPr>
          <a:lstStyle/>
          <a:p>
            <a:pPr>
              <a:lnSpc>
                <a:spcPct val="108000"/>
              </a:lnSpc>
              <a:spcAft>
                <a:spcPts val="700"/>
              </a:spcAft>
              <a:defRPr sz="2300" b="0">
                <a:solidFill>
                  <a:srgbClr val="24382F"/>
                </a:solidFill>
                <a:latin typeface="Liberation Sans"/>
              </a:defRPr>
            </a:pPr>
            <a:r>
              <a:t>Read the documents.</a:t>
            </a:r>
          </a:p>
          <a:p>
            <a:pPr>
              <a:lnSpc>
                <a:spcPct val="108000"/>
              </a:lnSpc>
              <a:spcAft>
                <a:spcPts val="700"/>
              </a:spcAft>
              <a:defRPr sz="2300" b="0">
                <a:solidFill>
                  <a:srgbClr val="24382F"/>
                </a:solidFill>
                <a:latin typeface="Liberation Sans"/>
              </a:defRPr>
            </a:pPr>
            <a:r>
              <a:t>Control remote equipment.</a:t>
            </a:r>
          </a:p>
          <a:p>
            <a:pPr>
              <a:lnSpc>
                <a:spcPct val="108000"/>
              </a:lnSpc>
              <a:spcAft>
                <a:spcPts val="700"/>
              </a:spcAft>
              <a:defRPr sz="2300" b="0">
                <a:solidFill>
                  <a:srgbClr val="24382F"/>
                </a:solidFill>
                <a:latin typeface="Liberation Sans"/>
              </a:defRPr>
            </a:pPr>
            <a:r>
              <a:t>Confirm one exact proposal.</a:t>
            </a:r>
          </a:p>
        </p:txBody>
      </p:sp>
      <p:sp>
        <p:nvSpPr>
          <p:cNvPr id="12" name="TextBox 11"/>
          <p:cNvSpPr txBox="1"/>
          <p:nvPr/>
        </p:nvSpPr>
        <p:spPr>
          <a:xfrm>
            <a:off x="896112" y="5157216"/>
            <a:ext cx="4572000" cy="36576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Private notes stay at your desk.</a:t>
            </a:r>
          </a:p>
        </p:txBody>
      </p:sp>
      <p:sp>
        <p:nvSpPr>
          <p:cNvPr id="13" name="TextBox 12"/>
          <p:cNvSpPr txBox="1"/>
          <p:nvPr/>
        </p:nvSpPr>
        <p:spPr>
          <a:xfrm>
            <a:off x="6583680" y="2761488"/>
            <a:ext cx="4572000" cy="384048"/>
          </a:xfrm>
          <a:prstGeom prst="rect">
            <a:avLst/>
          </a:prstGeom>
          <a:noFill/>
        </p:spPr>
        <p:txBody>
          <a:bodyPr wrap="square" lIns="0" rIns="0" tIns="0" bIns="0" anchor="t">
            <a:spAutoFit/>
          </a:bodyPr>
          <a:lstStyle/>
          <a:p>
            <a:pPr>
              <a:lnSpc>
                <a:spcPct val="108000"/>
              </a:lnSpc>
              <a:spcAft>
                <a:spcPts val="700"/>
              </a:spcAft>
              <a:defRPr sz="1500" b="1">
                <a:solidFill>
                  <a:srgbClr val="557862"/>
                </a:solidFill>
                <a:latin typeface="Liberation Sans"/>
              </a:defRPr>
            </a:pPr>
            <a:r>
              <a:t>PIP</a:t>
            </a:r>
          </a:p>
        </p:txBody>
      </p:sp>
      <p:sp>
        <p:nvSpPr>
          <p:cNvPr id="14" name="TextBox 13"/>
          <p:cNvSpPr txBox="1"/>
          <p:nvPr/>
        </p:nvSpPr>
        <p:spPr>
          <a:xfrm>
            <a:off x="6583680" y="3410712"/>
            <a:ext cx="4617720" cy="1645920"/>
          </a:xfrm>
          <a:prstGeom prst="rect">
            <a:avLst/>
          </a:prstGeom>
          <a:noFill/>
        </p:spPr>
        <p:txBody>
          <a:bodyPr wrap="square" lIns="0" rIns="0" tIns="0" bIns="0" anchor="t">
            <a:spAutoFit/>
          </a:bodyPr>
          <a:lstStyle/>
          <a:p>
            <a:pPr>
              <a:lnSpc>
                <a:spcPct val="108000"/>
              </a:lnSpc>
              <a:spcAft>
                <a:spcPts val="700"/>
              </a:spcAft>
              <a:defRPr sz="2300" b="0">
                <a:solidFill>
                  <a:srgbClr val="24382F"/>
                </a:solidFill>
                <a:latin typeface="Liberation Sans"/>
              </a:defRPr>
            </a:pPr>
            <a:r>
              <a:t>Observe nearby equipment.</a:t>
            </a:r>
          </a:p>
          <a:p>
            <a:pPr>
              <a:lnSpc>
                <a:spcPct val="108000"/>
              </a:lnSpc>
              <a:spcAft>
                <a:spcPts val="700"/>
              </a:spcAft>
              <a:defRPr sz="2300" b="0">
                <a:solidFill>
                  <a:srgbClr val="24382F"/>
                </a:solidFill>
                <a:latin typeface="Liberation Sans"/>
              </a:defRPr>
            </a:pPr>
            <a:r>
              <a:t>Inspect without permission.</a:t>
            </a:r>
          </a:p>
          <a:p>
            <a:pPr>
              <a:lnSpc>
                <a:spcPct val="108000"/>
              </a:lnSpc>
              <a:spcAft>
                <a:spcPts val="700"/>
              </a:spcAft>
              <a:defRPr sz="2300" b="0">
                <a:solidFill>
                  <a:srgbClr val="24382F"/>
                </a:solidFill>
                <a:latin typeface="Liberation Sans"/>
              </a:defRPr>
            </a:pPr>
            <a:r>
              <a:t>Propose a local action.</a:t>
            </a:r>
          </a:p>
        </p:txBody>
      </p:sp>
      <p:sp>
        <p:nvSpPr>
          <p:cNvPr id="15" name="TextBox 14"/>
          <p:cNvSpPr txBox="1"/>
          <p:nvPr/>
        </p:nvSpPr>
        <p:spPr>
          <a:xfrm>
            <a:off x="6583680" y="5157216"/>
            <a:ext cx="4572000" cy="36576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No automatic view of your map or notes.</a:t>
            </a:r>
          </a:p>
        </p:txBody>
      </p:sp>
      <p:sp>
        <p:nvSpPr>
          <p:cNvPr id="16" name="TextBox 15"/>
          <p:cNvSpPr txBox="1"/>
          <p:nvPr/>
        </p:nvSpPr>
        <p:spPr>
          <a:xfrm>
            <a:off x="731520" y="5879592"/>
            <a:ext cx="10881360" cy="365760"/>
          </a:xfrm>
          <a:prstGeom prst="rect">
            <a:avLst/>
          </a:prstGeom>
          <a:noFill/>
        </p:spPr>
        <p:txBody>
          <a:bodyPr wrap="square" lIns="0" rIns="0" tIns="0" bIns="0" anchor="t">
            <a:spAutoFit/>
          </a:bodyPr>
          <a:lstStyle/>
          <a:p>
            <a:pPr>
              <a:lnSpc>
                <a:spcPct val="108000"/>
              </a:lnSpc>
              <a:spcAft>
                <a:spcPts val="700"/>
              </a:spcAft>
              <a:defRPr sz="1600" b="0">
                <a:solidFill>
                  <a:srgbClr val="557862"/>
                </a:solidFill>
                <a:latin typeface="Liberation Sans"/>
              </a:defRPr>
            </a:pPr>
            <a:r>
              <a:t>A proposal communicates intent. Only a confirmed, server-validated action changes the world.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48056"/>
            <a:ext cx="384048" cy="50292"/>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56616"/>
            <a:ext cx="9144000" cy="320040"/>
          </a:xfrm>
          <a:prstGeom prst="rect">
            <a:avLst/>
          </a:prstGeom>
          <a:noFill/>
        </p:spPr>
        <p:txBody>
          <a:bodyPr wrap="square" lIns="0" rIns="0" tIns="0" bIns="0" anchor="t">
            <a:spAutoFit/>
          </a:bodyPr>
          <a:lstStyle/>
          <a:p>
            <a:pPr>
              <a:lnSpc>
                <a:spcPct val="108000"/>
              </a:lnSpc>
              <a:spcAft>
                <a:spcPts val="700"/>
              </a:spcAft>
              <a:defRPr sz="1100" b="1">
                <a:solidFill>
                  <a:srgbClr val="607066"/>
                </a:solidFill>
                <a:latin typeface="Liberation Sans"/>
              </a:defRPr>
            </a:pPr>
            <a:r>
              <a:t>THREE CHAPTERS</a:t>
            </a:r>
          </a:p>
        </p:txBody>
      </p:sp>
      <p:sp>
        <p:nvSpPr>
          <p:cNvPr id="4" name="TextBox 3"/>
          <p:cNvSpPr txBox="1"/>
          <p:nvPr/>
        </p:nvSpPr>
        <p:spPr>
          <a:xfrm>
            <a:off x="594360" y="859536"/>
            <a:ext cx="10972800" cy="914400"/>
          </a:xfrm>
          <a:prstGeom prst="rect">
            <a:avLst/>
          </a:prstGeom>
          <a:noFill/>
        </p:spPr>
        <p:txBody>
          <a:bodyPr wrap="square" lIns="0" rIns="0" tIns="0" bIns="0" anchor="t">
            <a:spAutoFit/>
          </a:bodyPr>
          <a:lstStyle/>
          <a:p>
            <a:pPr>
              <a:lnSpc>
                <a:spcPct val="108000"/>
              </a:lnSpc>
              <a:spcAft>
                <a:spcPts val="700"/>
              </a:spcAft>
              <a:defRPr sz="3600" b="0">
                <a:solidFill>
                  <a:srgbClr val="24382F"/>
                </a:solidFill>
                <a:latin typeface="Liberation Serif"/>
              </a:defRPr>
            </a:pPr>
            <a:r>
              <a:t>One rescue. Three ways to cooperate.</a:t>
            </a:r>
          </a:p>
        </p:txBody>
      </p:sp>
      <p:sp>
        <p:nvSpPr>
          <p:cNvPr id="5" name="TextBox 4"/>
          <p:cNvSpPr txBox="1"/>
          <p:nvPr/>
        </p:nvSpPr>
        <p:spPr>
          <a:xfrm>
            <a:off x="621792" y="1691640"/>
            <a:ext cx="10881360" cy="502920"/>
          </a:xfrm>
          <a:prstGeom prst="rect">
            <a:avLst/>
          </a:prstGeom>
          <a:noFill/>
        </p:spPr>
        <p:txBody>
          <a:bodyPr wrap="square" lIns="0" rIns="0" tIns="0" bIns="0" anchor="t">
            <a:spAutoFit/>
          </a:bodyPr>
          <a:lstStyle/>
          <a:p>
            <a:pPr>
              <a:lnSpc>
                <a:spcPct val="108000"/>
              </a:lnSpc>
              <a:spcAft>
                <a:spcPts val="700"/>
              </a:spcAft>
              <a:defRPr sz="1700" b="0">
                <a:solidFill>
                  <a:srgbClr val="607066"/>
                </a:solidFill>
                <a:latin typeface="Liberation Sans"/>
              </a:defRPr>
            </a:pPr>
            <a:r>
              <a:t>New deterministic Practice captures · the same explicit confirmation boundary</a:t>
            </a:r>
          </a:p>
        </p:txBody>
      </p:sp>
      <p:sp>
        <p:nvSpPr>
          <p:cNvPr id="6" name="TextBox 5"/>
          <p:cNvSpPr txBox="1"/>
          <p:nvPr/>
        </p:nvSpPr>
        <p:spPr>
          <a:xfrm>
            <a:off x="621792" y="6437376"/>
            <a:ext cx="6400800" cy="201168"/>
          </a:xfrm>
          <a:prstGeom prst="rect">
            <a:avLst/>
          </a:prstGeom>
          <a:noFill/>
        </p:spPr>
        <p:txBody>
          <a:bodyPr wrap="square" lIns="0" rIns="0" tIns="0" bIns="0" anchor="t">
            <a:spAutoFit/>
          </a:bodyPr>
          <a:lstStyle/>
          <a:p>
            <a:pPr>
              <a:lnSpc>
                <a:spcPct val="108000"/>
              </a:lnSpc>
              <a:spcAft>
                <a:spcPts val="700"/>
              </a:spcAft>
              <a:defRPr sz="900" b="1">
                <a:solidFill>
                  <a:srgbClr val="607066"/>
                </a:solidFill>
                <a:latin typeface="Liberation Sans"/>
              </a:defRPr>
            </a:pPr>
            <a:r>
              <a:t>TALK ME HOME</a:t>
            </a:r>
          </a:p>
        </p:txBody>
      </p:sp>
      <p:sp>
        <p:nvSpPr>
          <p:cNvPr id="7" name="TextBox 6"/>
          <p:cNvSpPr txBox="1"/>
          <p:nvPr/>
        </p:nvSpPr>
        <p:spPr>
          <a:xfrm>
            <a:off x="10744200" y="6419088"/>
            <a:ext cx="822960" cy="228600"/>
          </a:xfrm>
          <a:prstGeom prst="rect">
            <a:avLst/>
          </a:prstGeom>
          <a:noFill/>
        </p:spPr>
        <p:txBody>
          <a:bodyPr wrap="square" lIns="0" rIns="0" tIns="0" bIns="0" anchor="t">
            <a:spAutoFit/>
          </a:bodyPr>
          <a:lstStyle/>
          <a:p>
            <a:pPr>
              <a:lnSpc>
                <a:spcPct val="108000"/>
              </a:lnSpc>
              <a:spcAft>
                <a:spcPts val="700"/>
              </a:spcAft>
              <a:defRPr sz="1000" b="0">
                <a:solidFill>
                  <a:srgbClr val="607066"/>
                </a:solidFill>
                <a:latin typeface="Liberation Sans"/>
              </a:defRPr>
            </a:pPr>
            <a:r>
              <a:t>03 / 06</a:t>
            </a:r>
          </a:p>
        </p:txBody>
      </p:sp>
      <p:sp>
        <p:nvSpPr>
          <p:cNvPr id="8" name="Rectangle 7"/>
          <p:cNvSpPr/>
          <p:nvPr/>
        </p:nvSpPr>
        <p:spPr>
          <a:xfrm>
            <a:off x="621792" y="2423160"/>
            <a:ext cx="3227832" cy="21762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rgo.png"/>
          <p:cNvPicPr>
            <a:picLocks noChangeAspect="1"/>
          </p:cNvPicPr>
          <p:nvPr/>
        </p:nvPicPr>
        <p:blipFill>
          <a:blip r:embed="rId2"/>
          <a:stretch>
            <a:fillRect/>
          </a:stretch>
        </p:blipFill>
        <p:spPr>
          <a:xfrm>
            <a:off x="640080" y="2613755"/>
            <a:ext cx="3191256" cy="1795081"/>
          </a:xfrm>
          <a:prstGeom prst="rect">
            <a:avLst/>
          </a:prstGeom>
        </p:spPr>
      </p:pic>
      <p:sp>
        <p:nvSpPr>
          <p:cNvPr id="10" name="TextBox 9"/>
          <p:cNvSpPr txBox="1"/>
          <p:nvPr/>
        </p:nvSpPr>
        <p:spPr>
          <a:xfrm>
            <a:off x="621792" y="4809744"/>
            <a:ext cx="457200" cy="320040"/>
          </a:xfrm>
          <a:prstGeom prst="rect">
            <a:avLst/>
          </a:prstGeom>
          <a:noFill/>
        </p:spPr>
        <p:txBody>
          <a:bodyPr wrap="square" lIns="0" rIns="0" tIns="0" bIns="0" anchor="t">
            <a:spAutoFit/>
          </a:bodyPr>
          <a:lstStyle/>
          <a:p>
            <a:pPr>
              <a:lnSpc>
                <a:spcPct val="108000"/>
              </a:lnSpc>
              <a:spcAft>
                <a:spcPts val="700"/>
              </a:spcAft>
              <a:defRPr sz="1300" b="1">
                <a:solidFill>
                  <a:srgbClr val="B58A46"/>
                </a:solidFill>
                <a:latin typeface="Liberation Sans"/>
              </a:defRPr>
            </a:pPr>
            <a:r>
              <a:t>01</a:t>
            </a:r>
          </a:p>
        </p:txBody>
      </p:sp>
      <p:sp>
        <p:nvSpPr>
          <p:cNvPr id="11" name="TextBox 10"/>
          <p:cNvSpPr txBox="1"/>
          <p:nvPr/>
        </p:nvSpPr>
        <p:spPr>
          <a:xfrm>
            <a:off x="1014984" y="4718304"/>
            <a:ext cx="2926080" cy="502920"/>
          </a:xfrm>
          <a:prstGeom prst="rect">
            <a:avLst/>
          </a:prstGeom>
          <a:noFill/>
        </p:spPr>
        <p:txBody>
          <a:bodyPr wrap="square" lIns="0" rIns="0" tIns="0" bIns="0" anchor="t">
            <a:spAutoFit/>
          </a:bodyPr>
          <a:lstStyle/>
          <a:p>
            <a:pPr>
              <a:lnSpc>
                <a:spcPct val="108000"/>
              </a:lnSpc>
              <a:spcAft>
                <a:spcPts val="700"/>
              </a:spcAft>
              <a:defRPr sz="2300" b="0">
                <a:solidFill>
                  <a:srgbClr val="24382F"/>
                </a:solidFill>
                <a:latin typeface="Liberation Serif"/>
              </a:defRPr>
            </a:pPr>
            <a:r>
              <a:t>Cargo Bay</a:t>
            </a:r>
          </a:p>
        </p:txBody>
      </p:sp>
      <p:sp>
        <p:nvSpPr>
          <p:cNvPr id="12" name="TextBox 11"/>
          <p:cNvSpPr txBox="1"/>
          <p:nvPr/>
        </p:nvSpPr>
        <p:spPr>
          <a:xfrm>
            <a:off x="621792" y="5367528"/>
            <a:ext cx="3310128" cy="822960"/>
          </a:xfrm>
          <a:prstGeom prst="rect">
            <a:avLst/>
          </a:prstGeom>
          <a:noFill/>
        </p:spPr>
        <p:txBody>
          <a:bodyPr wrap="square" lIns="0" rIns="0" tIns="0" bIns="0" anchor="t">
            <a:spAutoFit/>
          </a:bodyPr>
          <a:lstStyle/>
          <a:p>
            <a:pPr>
              <a:lnSpc>
                <a:spcPct val="108000"/>
              </a:lnSpc>
              <a:spcAft>
                <a:spcPts val="700"/>
              </a:spcAft>
              <a:defRPr sz="1500" b="0">
                <a:solidFill>
                  <a:srgbClr val="607066"/>
                </a:solidFill>
                <a:latin typeface="Liberation Sans"/>
              </a:defRPr>
            </a:pPr>
            <a:r>
              <a:t>Reason about shared machinery</a:t>
            </a:r>
          </a:p>
          <a:p>
            <a:pPr>
              <a:lnSpc>
                <a:spcPct val="108000"/>
              </a:lnSpc>
              <a:spcAft>
                <a:spcPts val="700"/>
              </a:spcAft>
              <a:defRPr sz="1500" b="0">
                <a:solidFill>
                  <a:srgbClr val="607066"/>
                </a:solidFill>
                <a:latin typeface="Liberation Sans"/>
              </a:defRPr>
            </a:pPr>
            <a:r>
              <a:t>and remote Power.</a:t>
            </a:r>
          </a:p>
        </p:txBody>
      </p:sp>
      <p:sp>
        <p:nvSpPr>
          <p:cNvPr id="13" name="Rectangle 12"/>
          <p:cNvSpPr/>
          <p:nvPr/>
        </p:nvSpPr>
        <p:spPr>
          <a:xfrm>
            <a:off x="4480560" y="2423160"/>
            <a:ext cx="3227832" cy="21762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llery.png"/>
          <p:cNvPicPr>
            <a:picLocks noChangeAspect="1"/>
          </p:cNvPicPr>
          <p:nvPr/>
        </p:nvPicPr>
        <p:blipFill>
          <a:blip r:embed="rId3"/>
          <a:stretch>
            <a:fillRect/>
          </a:stretch>
        </p:blipFill>
        <p:spPr>
          <a:xfrm>
            <a:off x="4498848" y="2613755"/>
            <a:ext cx="3191256" cy="1795081"/>
          </a:xfrm>
          <a:prstGeom prst="rect">
            <a:avLst/>
          </a:prstGeom>
        </p:spPr>
      </p:pic>
      <p:sp>
        <p:nvSpPr>
          <p:cNvPr id="15" name="TextBox 14"/>
          <p:cNvSpPr txBox="1"/>
          <p:nvPr/>
        </p:nvSpPr>
        <p:spPr>
          <a:xfrm>
            <a:off x="4480560" y="4809744"/>
            <a:ext cx="457200" cy="320040"/>
          </a:xfrm>
          <a:prstGeom prst="rect">
            <a:avLst/>
          </a:prstGeom>
          <a:noFill/>
        </p:spPr>
        <p:txBody>
          <a:bodyPr wrap="square" lIns="0" rIns="0" tIns="0" bIns="0" anchor="t">
            <a:spAutoFit/>
          </a:bodyPr>
          <a:lstStyle/>
          <a:p>
            <a:pPr>
              <a:lnSpc>
                <a:spcPct val="108000"/>
              </a:lnSpc>
              <a:spcAft>
                <a:spcPts val="700"/>
              </a:spcAft>
              <a:defRPr sz="1300" b="1">
                <a:solidFill>
                  <a:srgbClr val="B58A46"/>
                </a:solidFill>
                <a:latin typeface="Liberation Sans"/>
              </a:defRPr>
            </a:pPr>
            <a:r>
              <a:t>02</a:t>
            </a:r>
          </a:p>
        </p:txBody>
      </p:sp>
      <p:sp>
        <p:nvSpPr>
          <p:cNvPr id="16" name="TextBox 15"/>
          <p:cNvSpPr txBox="1"/>
          <p:nvPr/>
        </p:nvSpPr>
        <p:spPr>
          <a:xfrm>
            <a:off x="4873752" y="4718304"/>
            <a:ext cx="2926080" cy="502920"/>
          </a:xfrm>
          <a:prstGeom prst="rect">
            <a:avLst/>
          </a:prstGeom>
          <a:noFill/>
        </p:spPr>
        <p:txBody>
          <a:bodyPr wrap="square" lIns="0" rIns="0" tIns="0" bIns="0" anchor="t">
            <a:spAutoFit/>
          </a:bodyPr>
          <a:lstStyle/>
          <a:p>
            <a:pPr>
              <a:lnSpc>
                <a:spcPct val="108000"/>
              </a:lnSpc>
              <a:spcAft>
                <a:spcPts val="700"/>
              </a:spcAft>
              <a:defRPr sz="2300" b="0">
                <a:solidFill>
                  <a:srgbClr val="24382F"/>
                </a:solidFill>
                <a:latin typeface="Liberation Serif"/>
              </a:defRPr>
            </a:pPr>
            <a:r>
              <a:t>Relay Gallery</a:t>
            </a:r>
          </a:p>
        </p:txBody>
      </p:sp>
      <p:sp>
        <p:nvSpPr>
          <p:cNvPr id="17" name="TextBox 16"/>
          <p:cNvSpPr txBox="1"/>
          <p:nvPr/>
        </p:nvSpPr>
        <p:spPr>
          <a:xfrm>
            <a:off x="4480560" y="5367528"/>
            <a:ext cx="3310128" cy="822960"/>
          </a:xfrm>
          <a:prstGeom prst="rect">
            <a:avLst/>
          </a:prstGeom>
          <a:noFill/>
        </p:spPr>
        <p:txBody>
          <a:bodyPr wrap="square" lIns="0" rIns="0" tIns="0" bIns="0" anchor="t">
            <a:spAutoFit/>
          </a:bodyPr>
          <a:lstStyle/>
          <a:p>
            <a:pPr>
              <a:lnSpc>
                <a:spcPct val="108000"/>
              </a:lnSpc>
              <a:spcAft>
                <a:spcPts val="700"/>
              </a:spcAft>
              <a:defRPr sz="1500" b="0">
                <a:solidFill>
                  <a:srgbClr val="607066"/>
                </a:solidFill>
                <a:latin typeface="Liberation Sans"/>
              </a:defRPr>
            </a:pPr>
            <a:r>
              <a:t>Compare spoken clues with an atlas.</a:t>
            </a:r>
          </a:p>
          <a:p>
            <a:pPr>
              <a:lnSpc>
                <a:spcPct val="108000"/>
              </a:lnSpc>
              <a:spcAft>
                <a:spcPts val="700"/>
              </a:spcAft>
              <a:defRPr sz="1500" b="0">
                <a:solidFill>
                  <a:srgbClr val="607066"/>
                </a:solidFill>
                <a:latin typeface="Liberation Sans"/>
              </a:defRPr>
            </a:pPr>
            <a:r>
              <a:t>Rethink the route when blocked.</a:t>
            </a:r>
          </a:p>
        </p:txBody>
      </p:sp>
      <p:sp>
        <p:nvSpPr>
          <p:cNvPr id="18" name="Rectangle 17"/>
          <p:cNvSpPr/>
          <p:nvPr/>
        </p:nvSpPr>
        <p:spPr>
          <a:xfrm>
            <a:off x="8339327" y="2423160"/>
            <a:ext cx="3227832" cy="21762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ock.png"/>
          <p:cNvPicPr>
            <a:picLocks noChangeAspect="1"/>
          </p:cNvPicPr>
          <p:nvPr/>
        </p:nvPicPr>
        <p:blipFill>
          <a:blip r:embed="rId4"/>
          <a:stretch>
            <a:fillRect/>
          </a:stretch>
        </p:blipFill>
        <p:spPr>
          <a:xfrm>
            <a:off x="8357615" y="2613755"/>
            <a:ext cx="3191256" cy="1795081"/>
          </a:xfrm>
          <a:prstGeom prst="rect">
            <a:avLst/>
          </a:prstGeom>
        </p:spPr>
      </p:pic>
      <p:sp>
        <p:nvSpPr>
          <p:cNvPr id="20" name="TextBox 19"/>
          <p:cNvSpPr txBox="1"/>
          <p:nvPr/>
        </p:nvSpPr>
        <p:spPr>
          <a:xfrm>
            <a:off x="8339327" y="4809744"/>
            <a:ext cx="457200" cy="320040"/>
          </a:xfrm>
          <a:prstGeom prst="rect">
            <a:avLst/>
          </a:prstGeom>
          <a:noFill/>
        </p:spPr>
        <p:txBody>
          <a:bodyPr wrap="square" lIns="0" rIns="0" tIns="0" bIns="0" anchor="t">
            <a:spAutoFit/>
          </a:bodyPr>
          <a:lstStyle/>
          <a:p>
            <a:pPr>
              <a:lnSpc>
                <a:spcPct val="108000"/>
              </a:lnSpc>
              <a:spcAft>
                <a:spcPts val="700"/>
              </a:spcAft>
              <a:defRPr sz="1300" b="1">
                <a:solidFill>
                  <a:srgbClr val="B58A46"/>
                </a:solidFill>
                <a:latin typeface="Liberation Sans"/>
              </a:defRPr>
            </a:pPr>
            <a:r>
              <a:t>03</a:t>
            </a:r>
          </a:p>
        </p:txBody>
      </p:sp>
      <p:sp>
        <p:nvSpPr>
          <p:cNvPr id="21" name="TextBox 20"/>
          <p:cNvSpPr txBox="1"/>
          <p:nvPr/>
        </p:nvSpPr>
        <p:spPr>
          <a:xfrm>
            <a:off x="8732519" y="4718304"/>
            <a:ext cx="2926080" cy="502920"/>
          </a:xfrm>
          <a:prstGeom prst="rect">
            <a:avLst/>
          </a:prstGeom>
          <a:noFill/>
        </p:spPr>
        <p:txBody>
          <a:bodyPr wrap="square" lIns="0" rIns="0" tIns="0" bIns="0" anchor="t">
            <a:spAutoFit/>
          </a:bodyPr>
          <a:lstStyle/>
          <a:p>
            <a:pPr>
              <a:lnSpc>
                <a:spcPct val="108000"/>
              </a:lnSpc>
              <a:spcAft>
                <a:spcPts val="700"/>
              </a:spcAft>
              <a:defRPr sz="2300" b="0">
                <a:solidFill>
                  <a:srgbClr val="24382F"/>
                </a:solidFill>
                <a:latin typeface="Liberation Serif"/>
              </a:defRPr>
            </a:pPr>
            <a:r>
              <a:t>Return Dock</a:t>
            </a:r>
          </a:p>
        </p:txBody>
      </p:sp>
      <p:sp>
        <p:nvSpPr>
          <p:cNvPr id="22" name="TextBox 21"/>
          <p:cNvSpPr txBox="1"/>
          <p:nvPr/>
        </p:nvSpPr>
        <p:spPr>
          <a:xfrm>
            <a:off x="8339327" y="5367528"/>
            <a:ext cx="3310128" cy="822960"/>
          </a:xfrm>
          <a:prstGeom prst="rect">
            <a:avLst/>
          </a:prstGeom>
          <a:noFill/>
        </p:spPr>
        <p:txBody>
          <a:bodyPr wrap="square" lIns="0" rIns="0" tIns="0" bIns="0" anchor="t">
            <a:spAutoFit/>
          </a:bodyPr>
          <a:lstStyle/>
          <a:p>
            <a:pPr>
              <a:lnSpc>
                <a:spcPct val="108000"/>
              </a:lnSpc>
              <a:spcAft>
                <a:spcPts val="700"/>
              </a:spcAft>
              <a:defRPr sz="1500" b="0">
                <a:solidFill>
                  <a:srgbClr val="607066"/>
                </a:solidFill>
                <a:latin typeface="Liberation Sans"/>
              </a:defRPr>
            </a:pPr>
            <a:r>
              <a:t>Coordinate charging and readiness.</a:t>
            </a:r>
          </a:p>
          <a:p>
            <a:pPr>
              <a:lnSpc>
                <a:spcPct val="108000"/>
              </a:lnSpc>
              <a:spcAft>
                <a:spcPts val="700"/>
              </a:spcAft>
              <a:defRPr sz="1500" b="0">
                <a:solidFill>
                  <a:srgbClr val="607066"/>
                </a:solidFill>
                <a:latin typeface="Liberation Sans"/>
              </a:defRPr>
            </a:pPr>
            <a:r>
              <a:t>Authorize the return separately.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48056"/>
            <a:ext cx="384048" cy="50292"/>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56616"/>
            <a:ext cx="9144000" cy="320040"/>
          </a:xfrm>
          <a:prstGeom prst="rect">
            <a:avLst/>
          </a:prstGeom>
          <a:noFill/>
        </p:spPr>
        <p:txBody>
          <a:bodyPr wrap="square" lIns="0" rIns="0" tIns="0" bIns="0" anchor="t">
            <a:spAutoFit/>
          </a:bodyPr>
          <a:lstStyle/>
          <a:p>
            <a:pPr>
              <a:lnSpc>
                <a:spcPct val="108000"/>
              </a:lnSpc>
              <a:spcAft>
                <a:spcPts val="700"/>
              </a:spcAft>
              <a:defRPr sz="1100" b="1">
                <a:solidFill>
                  <a:srgbClr val="607066"/>
                </a:solidFill>
                <a:latin typeface="Liberation Sans"/>
              </a:defRPr>
            </a:pPr>
            <a:r>
              <a:t>THE INTERACTION</a:t>
            </a:r>
          </a:p>
        </p:txBody>
      </p:sp>
      <p:sp>
        <p:nvSpPr>
          <p:cNvPr id="4" name="TextBox 3"/>
          <p:cNvSpPr txBox="1"/>
          <p:nvPr/>
        </p:nvSpPr>
        <p:spPr>
          <a:xfrm>
            <a:off x="594360" y="859536"/>
            <a:ext cx="10972800" cy="914400"/>
          </a:xfrm>
          <a:prstGeom prst="rect">
            <a:avLst/>
          </a:prstGeom>
          <a:noFill/>
        </p:spPr>
        <p:txBody>
          <a:bodyPr wrap="square" lIns="0" rIns="0" tIns="0" bIns="0" anchor="t">
            <a:spAutoFit/>
          </a:bodyPr>
          <a:lstStyle/>
          <a:p>
            <a:pPr>
              <a:lnSpc>
                <a:spcPct val="108000"/>
              </a:lnSpc>
              <a:spcAft>
                <a:spcPts val="700"/>
              </a:spcAft>
              <a:defRPr sz="3600" b="0">
                <a:solidFill>
                  <a:srgbClr val="24382F"/>
                </a:solidFill>
                <a:latin typeface="Liberation Serif"/>
              </a:defRPr>
            </a:pPr>
            <a:r>
              <a:t>Talk with Pip. Confirm on the console.</a:t>
            </a:r>
          </a:p>
        </p:txBody>
      </p:sp>
      <p:sp>
        <p:nvSpPr>
          <p:cNvPr id="5" name="TextBox 4"/>
          <p:cNvSpPr txBox="1"/>
          <p:nvPr/>
        </p:nvSpPr>
        <p:spPr>
          <a:xfrm>
            <a:off x="621792" y="6437376"/>
            <a:ext cx="6400800" cy="201168"/>
          </a:xfrm>
          <a:prstGeom prst="rect">
            <a:avLst/>
          </a:prstGeom>
          <a:noFill/>
        </p:spPr>
        <p:txBody>
          <a:bodyPr wrap="square" lIns="0" rIns="0" tIns="0" bIns="0" anchor="t">
            <a:spAutoFit/>
          </a:bodyPr>
          <a:lstStyle/>
          <a:p>
            <a:pPr>
              <a:lnSpc>
                <a:spcPct val="108000"/>
              </a:lnSpc>
              <a:spcAft>
                <a:spcPts val="700"/>
              </a:spcAft>
              <a:defRPr sz="900" b="1">
                <a:solidFill>
                  <a:srgbClr val="607066"/>
                </a:solidFill>
                <a:latin typeface="Liberation Sans"/>
              </a:defRPr>
            </a:pPr>
            <a:r>
              <a:t>TALK ME HOME</a:t>
            </a:r>
          </a:p>
        </p:txBody>
      </p:sp>
      <p:sp>
        <p:nvSpPr>
          <p:cNvPr id="6" name="TextBox 5"/>
          <p:cNvSpPr txBox="1"/>
          <p:nvPr/>
        </p:nvSpPr>
        <p:spPr>
          <a:xfrm>
            <a:off x="10744200" y="6419088"/>
            <a:ext cx="822960" cy="228600"/>
          </a:xfrm>
          <a:prstGeom prst="rect">
            <a:avLst/>
          </a:prstGeom>
          <a:noFill/>
        </p:spPr>
        <p:txBody>
          <a:bodyPr wrap="square" lIns="0" rIns="0" tIns="0" bIns="0" anchor="t">
            <a:spAutoFit/>
          </a:bodyPr>
          <a:lstStyle/>
          <a:p>
            <a:pPr>
              <a:lnSpc>
                <a:spcPct val="108000"/>
              </a:lnSpc>
              <a:spcAft>
                <a:spcPts val="700"/>
              </a:spcAft>
              <a:defRPr sz="1000" b="0">
                <a:solidFill>
                  <a:srgbClr val="607066"/>
                </a:solidFill>
                <a:latin typeface="Liberation Sans"/>
              </a:defRPr>
            </a:pPr>
            <a:r>
              <a:t>04 / 06</a:t>
            </a:r>
          </a:p>
        </p:txBody>
      </p:sp>
      <p:sp>
        <p:nvSpPr>
          <p:cNvPr id="7" name="Rectangle 6"/>
          <p:cNvSpPr/>
          <p:nvPr/>
        </p:nvSpPr>
        <p:spPr>
          <a:xfrm>
            <a:off x="621792" y="1965960"/>
            <a:ext cx="7406640" cy="416966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ending.png"/>
          <p:cNvPicPr>
            <a:picLocks noChangeAspect="1"/>
          </p:cNvPicPr>
          <p:nvPr/>
        </p:nvPicPr>
        <p:blipFill>
          <a:blip r:embed="rId2"/>
          <a:stretch>
            <a:fillRect/>
          </a:stretch>
        </p:blipFill>
        <p:spPr>
          <a:xfrm>
            <a:off x="634999" y="1975104"/>
            <a:ext cx="7380224" cy="4151376"/>
          </a:xfrm>
          <a:prstGeom prst="rect">
            <a:avLst/>
          </a:prstGeom>
        </p:spPr>
      </p:pic>
      <p:sp>
        <p:nvSpPr>
          <p:cNvPr id="9" name="Rounded Rectangle 8"/>
          <p:cNvSpPr/>
          <p:nvPr/>
        </p:nvSpPr>
        <p:spPr>
          <a:xfrm>
            <a:off x="8348472" y="2011680"/>
            <a:ext cx="393192" cy="393192"/>
          </a:xfrm>
          <a:prstGeom prst="roundRect">
            <a:avLst>
              <a:gd name="adj" fmla="val 8000"/>
            </a:avLst>
          </a:prstGeom>
          <a:solidFill>
            <a:srgbClr val="557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2061972"/>
            <a:ext cx="201168" cy="274320"/>
          </a:xfrm>
          <a:prstGeom prst="rect">
            <a:avLst/>
          </a:prstGeom>
          <a:noFill/>
        </p:spPr>
        <p:txBody>
          <a:bodyPr wrap="square" lIns="0" rIns="0" tIns="0" bIns="0" anchor="t">
            <a:spAutoFit/>
          </a:bodyPr>
          <a:lstStyle/>
          <a:p>
            <a:pPr>
              <a:lnSpc>
                <a:spcPct val="108000"/>
              </a:lnSpc>
              <a:spcAft>
                <a:spcPts val="700"/>
              </a:spcAft>
              <a:defRPr sz="1400" b="1">
                <a:solidFill>
                  <a:srgbClr val="FFFFFF"/>
                </a:solidFill>
                <a:latin typeface="Liberation Sans"/>
              </a:defRPr>
            </a:pPr>
            <a:r>
              <a:t>1</a:t>
            </a:r>
          </a:p>
        </p:txBody>
      </p:sp>
      <p:sp>
        <p:nvSpPr>
          <p:cNvPr id="11" name="TextBox 10"/>
          <p:cNvSpPr txBox="1"/>
          <p:nvPr/>
        </p:nvSpPr>
        <p:spPr>
          <a:xfrm>
            <a:off x="8951976" y="1993392"/>
            <a:ext cx="2606040" cy="420624"/>
          </a:xfrm>
          <a:prstGeom prst="rect">
            <a:avLst/>
          </a:prstGeom>
          <a:noFill/>
        </p:spPr>
        <p:txBody>
          <a:bodyPr wrap="square" lIns="0" rIns="0" tIns="0" bIns="0" anchor="t">
            <a:spAutoFit/>
          </a:bodyPr>
          <a:lstStyle/>
          <a:p>
            <a:pPr>
              <a:lnSpc>
                <a:spcPct val="108000"/>
              </a:lnSpc>
              <a:spcAft>
                <a:spcPts val="700"/>
              </a:spcAft>
              <a:defRPr sz="1900" b="1">
                <a:solidFill>
                  <a:srgbClr val="24382F"/>
                </a:solidFill>
                <a:latin typeface="Liberation Sans"/>
              </a:defRPr>
            </a:pPr>
            <a:r>
              <a:t>Conversation</a:t>
            </a:r>
          </a:p>
        </p:txBody>
      </p:sp>
      <p:sp>
        <p:nvSpPr>
          <p:cNvPr id="12" name="TextBox 11"/>
          <p:cNvSpPr txBox="1"/>
          <p:nvPr/>
        </p:nvSpPr>
        <p:spPr>
          <a:xfrm>
            <a:off x="8951976" y="2450592"/>
            <a:ext cx="2606040" cy="50292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Share a clue or request.</a:t>
            </a:r>
          </a:p>
        </p:txBody>
      </p:sp>
      <p:sp>
        <p:nvSpPr>
          <p:cNvPr id="13" name="Rounded Rectangle 12"/>
          <p:cNvSpPr/>
          <p:nvPr/>
        </p:nvSpPr>
        <p:spPr>
          <a:xfrm>
            <a:off x="8348472" y="3035808"/>
            <a:ext cx="393192" cy="393192"/>
          </a:xfrm>
          <a:prstGeom prst="roundRect">
            <a:avLst>
              <a:gd name="adj" fmla="val 8000"/>
            </a:avLst>
          </a:prstGeom>
          <a:solidFill>
            <a:srgbClr val="557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3086100"/>
            <a:ext cx="201168" cy="274320"/>
          </a:xfrm>
          <a:prstGeom prst="rect">
            <a:avLst/>
          </a:prstGeom>
          <a:noFill/>
        </p:spPr>
        <p:txBody>
          <a:bodyPr wrap="square" lIns="0" rIns="0" tIns="0" bIns="0" anchor="t">
            <a:spAutoFit/>
          </a:bodyPr>
          <a:lstStyle/>
          <a:p>
            <a:pPr>
              <a:lnSpc>
                <a:spcPct val="108000"/>
              </a:lnSpc>
              <a:spcAft>
                <a:spcPts val="700"/>
              </a:spcAft>
              <a:defRPr sz="1400" b="1">
                <a:solidFill>
                  <a:srgbClr val="FFFFFF"/>
                </a:solidFill>
                <a:latin typeface="Liberation Sans"/>
              </a:defRPr>
            </a:pPr>
            <a:r>
              <a:t>2</a:t>
            </a:r>
          </a:p>
        </p:txBody>
      </p:sp>
      <p:sp>
        <p:nvSpPr>
          <p:cNvPr id="15" name="TextBox 14"/>
          <p:cNvSpPr txBox="1"/>
          <p:nvPr/>
        </p:nvSpPr>
        <p:spPr>
          <a:xfrm>
            <a:off x="8951976" y="3017520"/>
            <a:ext cx="2606040" cy="420624"/>
          </a:xfrm>
          <a:prstGeom prst="rect">
            <a:avLst/>
          </a:prstGeom>
          <a:noFill/>
        </p:spPr>
        <p:txBody>
          <a:bodyPr wrap="square" lIns="0" rIns="0" tIns="0" bIns="0" anchor="t">
            <a:spAutoFit/>
          </a:bodyPr>
          <a:lstStyle/>
          <a:p>
            <a:pPr>
              <a:lnSpc>
                <a:spcPct val="108000"/>
              </a:lnSpc>
              <a:spcAft>
                <a:spcPts val="700"/>
              </a:spcAft>
              <a:defRPr sz="1900" b="1">
                <a:solidFill>
                  <a:srgbClr val="24382F"/>
                </a:solidFill>
                <a:latin typeface="Liberation Sans"/>
              </a:defRPr>
            </a:pPr>
            <a:r>
              <a:t>A specific proposal</a:t>
            </a:r>
          </a:p>
        </p:txBody>
      </p:sp>
      <p:sp>
        <p:nvSpPr>
          <p:cNvPr id="16" name="TextBox 15"/>
          <p:cNvSpPr txBox="1"/>
          <p:nvPr/>
        </p:nvSpPr>
        <p:spPr>
          <a:xfrm>
            <a:off x="8951976" y="3474720"/>
            <a:ext cx="2606040" cy="50292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Read the exact action.</a:t>
            </a:r>
          </a:p>
        </p:txBody>
      </p:sp>
      <p:sp>
        <p:nvSpPr>
          <p:cNvPr id="17" name="Rounded Rectangle 16"/>
          <p:cNvSpPr/>
          <p:nvPr/>
        </p:nvSpPr>
        <p:spPr>
          <a:xfrm>
            <a:off x="8348472" y="4059936"/>
            <a:ext cx="393192" cy="393192"/>
          </a:xfrm>
          <a:prstGeom prst="roundRect">
            <a:avLst>
              <a:gd name="adj" fmla="val 8000"/>
            </a:avLst>
          </a:prstGeom>
          <a:solidFill>
            <a:srgbClr val="557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4110228"/>
            <a:ext cx="201168" cy="274320"/>
          </a:xfrm>
          <a:prstGeom prst="rect">
            <a:avLst/>
          </a:prstGeom>
          <a:noFill/>
        </p:spPr>
        <p:txBody>
          <a:bodyPr wrap="square" lIns="0" rIns="0" tIns="0" bIns="0" anchor="t">
            <a:spAutoFit/>
          </a:bodyPr>
          <a:lstStyle/>
          <a:p>
            <a:pPr>
              <a:lnSpc>
                <a:spcPct val="108000"/>
              </a:lnSpc>
              <a:spcAft>
                <a:spcPts val="700"/>
              </a:spcAft>
              <a:defRPr sz="1400" b="1">
                <a:solidFill>
                  <a:srgbClr val="FFFFFF"/>
                </a:solidFill>
                <a:latin typeface="Liberation Sans"/>
              </a:defRPr>
            </a:pPr>
            <a:r>
              <a:t>3</a:t>
            </a:r>
          </a:p>
        </p:txBody>
      </p:sp>
      <p:sp>
        <p:nvSpPr>
          <p:cNvPr id="19" name="TextBox 18"/>
          <p:cNvSpPr txBox="1"/>
          <p:nvPr/>
        </p:nvSpPr>
        <p:spPr>
          <a:xfrm>
            <a:off x="8951976" y="4041648"/>
            <a:ext cx="2606040" cy="420624"/>
          </a:xfrm>
          <a:prstGeom prst="rect">
            <a:avLst/>
          </a:prstGeom>
          <a:noFill/>
        </p:spPr>
        <p:txBody>
          <a:bodyPr wrap="square" lIns="0" rIns="0" tIns="0" bIns="0" anchor="t">
            <a:spAutoFit/>
          </a:bodyPr>
          <a:lstStyle/>
          <a:p>
            <a:pPr>
              <a:lnSpc>
                <a:spcPct val="108000"/>
              </a:lnSpc>
              <a:spcAft>
                <a:spcPts val="700"/>
              </a:spcAft>
              <a:defRPr sz="1900" b="1">
                <a:solidFill>
                  <a:srgbClr val="24382F"/>
                </a:solidFill>
                <a:latin typeface="Liberation Sans"/>
              </a:defRPr>
            </a:pPr>
            <a:r>
              <a:t>Human confirmation</a:t>
            </a:r>
          </a:p>
        </p:txBody>
      </p:sp>
      <p:sp>
        <p:nvSpPr>
          <p:cNvPr id="20" name="TextBox 19"/>
          <p:cNvSpPr txBox="1"/>
          <p:nvPr/>
        </p:nvSpPr>
        <p:spPr>
          <a:xfrm>
            <a:off x="8951976" y="4498848"/>
            <a:ext cx="2606040" cy="50292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Confirm, or choose Not yet.</a:t>
            </a:r>
          </a:p>
        </p:txBody>
      </p:sp>
      <p:sp>
        <p:nvSpPr>
          <p:cNvPr id="21" name="Rounded Rectangle 20"/>
          <p:cNvSpPr/>
          <p:nvPr/>
        </p:nvSpPr>
        <p:spPr>
          <a:xfrm>
            <a:off x="8348472" y="5084064"/>
            <a:ext cx="393192" cy="393192"/>
          </a:xfrm>
          <a:prstGeom prst="roundRect">
            <a:avLst>
              <a:gd name="adj" fmla="val 8000"/>
            </a:avLst>
          </a:prstGeom>
          <a:solidFill>
            <a:srgbClr val="557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6488" y="5134355"/>
            <a:ext cx="201168" cy="274320"/>
          </a:xfrm>
          <a:prstGeom prst="rect">
            <a:avLst/>
          </a:prstGeom>
          <a:noFill/>
        </p:spPr>
        <p:txBody>
          <a:bodyPr wrap="square" lIns="0" rIns="0" tIns="0" bIns="0" anchor="t">
            <a:spAutoFit/>
          </a:bodyPr>
          <a:lstStyle/>
          <a:p>
            <a:pPr>
              <a:lnSpc>
                <a:spcPct val="108000"/>
              </a:lnSpc>
              <a:spcAft>
                <a:spcPts val="700"/>
              </a:spcAft>
              <a:defRPr sz="1400" b="1">
                <a:solidFill>
                  <a:srgbClr val="FFFFFF"/>
                </a:solidFill>
                <a:latin typeface="Liberation Sans"/>
              </a:defRPr>
            </a:pPr>
            <a:r>
              <a:t>4</a:t>
            </a:r>
          </a:p>
        </p:txBody>
      </p:sp>
      <p:sp>
        <p:nvSpPr>
          <p:cNvPr id="23" name="TextBox 22"/>
          <p:cNvSpPr txBox="1"/>
          <p:nvPr/>
        </p:nvSpPr>
        <p:spPr>
          <a:xfrm>
            <a:off x="8951976" y="5065776"/>
            <a:ext cx="2606040" cy="420624"/>
          </a:xfrm>
          <a:prstGeom prst="rect">
            <a:avLst/>
          </a:prstGeom>
          <a:noFill/>
        </p:spPr>
        <p:txBody>
          <a:bodyPr wrap="square" lIns="0" rIns="0" tIns="0" bIns="0" anchor="t">
            <a:spAutoFit/>
          </a:bodyPr>
          <a:lstStyle/>
          <a:p>
            <a:pPr>
              <a:lnSpc>
                <a:spcPct val="108000"/>
              </a:lnSpc>
              <a:spcAft>
                <a:spcPts val="700"/>
              </a:spcAft>
              <a:defRPr sz="1900" b="1">
                <a:solidFill>
                  <a:srgbClr val="24382F"/>
                </a:solidFill>
                <a:latin typeface="Liberation Sans"/>
              </a:defRPr>
            </a:pPr>
            <a:r>
              <a:t>Verified result</a:t>
            </a:r>
          </a:p>
        </p:txBody>
      </p:sp>
      <p:sp>
        <p:nvSpPr>
          <p:cNvPr id="24" name="TextBox 23"/>
          <p:cNvSpPr txBox="1"/>
          <p:nvPr/>
        </p:nvSpPr>
        <p:spPr>
          <a:xfrm>
            <a:off x="8951976" y="5522975"/>
            <a:ext cx="2606040" cy="502920"/>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The server rechecks conditions.</a:t>
            </a:r>
          </a:p>
        </p:txBody>
      </p:sp>
      <p:sp>
        <p:nvSpPr>
          <p:cNvPr id="25" name="TextBox 24"/>
          <p:cNvSpPr txBox="1"/>
          <p:nvPr/>
        </p:nvSpPr>
        <p:spPr>
          <a:xfrm>
            <a:off x="667512" y="6181344"/>
            <a:ext cx="7863840" cy="256032"/>
          </a:xfrm>
          <a:prstGeom prst="rect">
            <a:avLst/>
          </a:prstGeom>
          <a:noFill/>
        </p:spPr>
        <p:txBody>
          <a:bodyPr wrap="square" lIns="0" rIns="0" tIns="0" bIns="0" anchor="t">
            <a:spAutoFit/>
          </a:bodyPr>
          <a:lstStyle/>
          <a:p>
            <a:pPr>
              <a:lnSpc>
                <a:spcPct val="108000"/>
              </a:lnSpc>
              <a:spcAft>
                <a:spcPts val="700"/>
              </a:spcAft>
              <a:defRPr sz="1100" b="0">
                <a:solidFill>
                  <a:srgbClr val="607066"/>
                </a:solidFill>
                <a:latin typeface="Liberation Sans"/>
              </a:defRPr>
            </a:pPr>
            <a:r>
              <a:t>Current Practice UI · spoken “yes” does not execute an 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48056"/>
            <a:ext cx="384048" cy="50292"/>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56616"/>
            <a:ext cx="9144000" cy="320040"/>
          </a:xfrm>
          <a:prstGeom prst="rect">
            <a:avLst/>
          </a:prstGeom>
          <a:noFill/>
        </p:spPr>
        <p:txBody>
          <a:bodyPr wrap="square" lIns="0" rIns="0" tIns="0" bIns="0" anchor="t">
            <a:spAutoFit/>
          </a:bodyPr>
          <a:lstStyle/>
          <a:p>
            <a:pPr>
              <a:lnSpc>
                <a:spcPct val="108000"/>
              </a:lnSpc>
              <a:spcAft>
                <a:spcPts val="700"/>
              </a:spcAft>
              <a:defRPr sz="1100" b="1">
                <a:solidFill>
                  <a:srgbClr val="607066"/>
                </a:solidFill>
                <a:latin typeface="Liberation Sans"/>
              </a:defRPr>
            </a:pPr>
            <a:r>
              <a:t>IMPLEMENTATION AND EVIDENCE</a:t>
            </a:r>
          </a:p>
        </p:txBody>
      </p:sp>
      <p:sp>
        <p:nvSpPr>
          <p:cNvPr id="4" name="TextBox 3"/>
          <p:cNvSpPr txBox="1"/>
          <p:nvPr/>
        </p:nvSpPr>
        <p:spPr>
          <a:xfrm>
            <a:off x="594360" y="859536"/>
            <a:ext cx="10972800" cy="914400"/>
          </a:xfrm>
          <a:prstGeom prst="rect">
            <a:avLst/>
          </a:prstGeom>
          <a:noFill/>
        </p:spPr>
        <p:txBody>
          <a:bodyPr wrap="square" lIns="0" rIns="0" tIns="0" bIns="0" anchor="t">
            <a:spAutoFit/>
          </a:bodyPr>
          <a:lstStyle/>
          <a:p>
            <a:pPr>
              <a:lnSpc>
                <a:spcPct val="108000"/>
              </a:lnSpc>
              <a:spcAft>
                <a:spcPts val="700"/>
              </a:spcAft>
              <a:defRPr sz="3600" b="0">
                <a:solidFill>
                  <a:srgbClr val="24382F"/>
                </a:solidFill>
                <a:latin typeface="Liberation Serif"/>
              </a:defRPr>
            </a:pPr>
            <a:r>
              <a:t>An implemented game. A clearly scoped result.</a:t>
            </a:r>
          </a:p>
        </p:txBody>
      </p:sp>
      <p:sp>
        <p:nvSpPr>
          <p:cNvPr id="5" name="TextBox 4"/>
          <p:cNvSpPr txBox="1"/>
          <p:nvPr/>
        </p:nvSpPr>
        <p:spPr>
          <a:xfrm>
            <a:off x="621792" y="6437376"/>
            <a:ext cx="6400800" cy="201168"/>
          </a:xfrm>
          <a:prstGeom prst="rect">
            <a:avLst/>
          </a:prstGeom>
          <a:noFill/>
        </p:spPr>
        <p:txBody>
          <a:bodyPr wrap="square" lIns="0" rIns="0" tIns="0" bIns="0" anchor="t">
            <a:spAutoFit/>
          </a:bodyPr>
          <a:lstStyle/>
          <a:p>
            <a:pPr>
              <a:lnSpc>
                <a:spcPct val="108000"/>
              </a:lnSpc>
              <a:spcAft>
                <a:spcPts val="700"/>
              </a:spcAft>
              <a:defRPr sz="900" b="1">
                <a:solidFill>
                  <a:srgbClr val="607066"/>
                </a:solidFill>
                <a:latin typeface="Liberation Sans"/>
              </a:defRPr>
            </a:pPr>
            <a:r>
              <a:t>TALK ME HOME</a:t>
            </a:r>
          </a:p>
        </p:txBody>
      </p:sp>
      <p:sp>
        <p:nvSpPr>
          <p:cNvPr id="6" name="TextBox 5"/>
          <p:cNvSpPr txBox="1"/>
          <p:nvPr/>
        </p:nvSpPr>
        <p:spPr>
          <a:xfrm>
            <a:off x="10744200" y="6419088"/>
            <a:ext cx="822960" cy="228600"/>
          </a:xfrm>
          <a:prstGeom prst="rect">
            <a:avLst/>
          </a:prstGeom>
          <a:noFill/>
        </p:spPr>
        <p:txBody>
          <a:bodyPr wrap="square" lIns="0" rIns="0" tIns="0" bIns="0" anchor="t">
            <a:spAutoFit/>
          </a:bodyPr>
          <a:lstStyle/>
          <a:p>
            <a:pPr>
              <a:lnSpc>
                <a:spcPct val="108000"/>
              </a:lnSpc>
              <a:spcAft>
                <a:spcPts val="700"/>
              </a:spcAft>
              <a:defRPr sz="1000" b="0">
                <a:solidFill>
                  <a:srgbClr val="607066"/>
                </a:solidFill>
                <a:latin typeface="Liberation Sans"/>
              </a:defRPr>
            </a:pPr>
            <a:r>
              <a:t>05 / 06</a:t>
            </a:r>
          </a:p>
        </p:txBody>
      </p:sp>
      <p:sp>
        <p:nvSpPr>
          <p:cNvPr id="7" name="Rounded Rectangle 6"/>
          <p:cNvSpPr/>
          <p:nvPr/>
        </p:nvSpPr>
        <p:spPr>
          <a:xfrm>
            <a:off x="621792" y="2048256"/>
            <a:ext cx="3383280" cy="3648456"/>
          </a:xfrm>
          <a:prstGeom prst="roundRect">
            <a:avLst>
              <a:gd name="adj" fmla="val 8000"/>
            </a:avLst>
          </a:prstGeom>
          <a:solidFill>
            <a:srgbClr val="E4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07408" y="2048256"/>
            <a:ext cx="3383280" cy="3648456"/>
          </a:xfrm>
          <a:prstGeom prst="roundRect">
            <a:avLst>
              <a:gd name="adj" fmla="val 8000"/>
            </a:avLst>
          </a:prstGeom>
          <a:solidFill>
            <a:srgbClr val="E8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193024" y="2048256"/>
            <a:ext cx="3383280" cy="3648456"/>
          </a:xfrm>
          <a:prstGeom prst="roundRect">
            <a:avLst>
              <a:gd name="adj" fmla="val 8000"/>
            </a:avLst>
          </a:prstGeom>
          <a:solidFill>
            <a:srgbClr val="EC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377440"/>
            <a:ext cx="2880360" cy="310896"/>
          </a:xfrm>
          <a:prstGeom prst="rect">
            <a:avLst/>
          </a:prstGeom>
          <a:noFill/>
        </p:spPr>
        <p:txBody>
          <a:bodyPr wrap="square" lIns="0" rIns="0" tIns="0" bIns="0" anchor="t">
            <a:spAutoFit/>
          </a:bodyPr>
          <a:lstStyle/>
          <a:p>
            <a:pPr>
              <a:lnSpc>
                <a:spcPct val="108000"/>
              </a:lnSpc>
              <a:spcAft>
                <a:spcPts val="700"/>
              </a:spcAft>
              <a:defRPr sz="1300" b="1">
                <a:solidFill>
                  <a:srgbClr val="557862"/>
                </a:solidFill>
                <a:latin typeface="Liberation Sans"/>
              </a:defRPr>
            </a:pPr>
            <a:r>
              <a:t>BUILT</a:t>
            </a:r>
          </a:p>
        </p:txBody>
      </p:sp>
      <p:sp>
        <p:nvSpPr>
          <p:cNvPr id="11" name="TextBox 10"/>
          <p:cNvSpPr txBox="1"/>
          <p:nvPr/>
        </p:nvSpPr>
        <p:spPr>
          <a:xfrm>
            <a:off x="896112" y="2907792"/>
            <a:ext cx="2880360" cy="1645920"/>
          </a:xfrm>
          <a:prstGeom prst="rect">
            <a:avLst/>
          </a:prstGeom>
          <a:noFill/>
        </p:spPr>
        <p:txBody>
          <a:bodyPr wrap="square" lIns="0" rIns="0" tIns="0" bIns="0" anchor="t">
            <a:spAutoFit/>
          </a:bodyPr>
          <a:lstStyle/>
          <a:p>
            <a:pPr>
              <a:lnSpc>
                <a:spcPct val="108000"/>
              </a:lnSpc>
              <a:spcAft>
                <a:spcPts val="700"/>
              </a:spcAft>
              <a:defRPr sz="2000" b="0">
                <a:solidFill>
                  <a:srgbClr val="24382F"/>
                </a:solidFill>
                <a:latin typeface="Liberation Sans"/>
              </a:defRPr>
            </a:pPr>
            <a:r>
              <a:t>React + TypeScript</a:t>
            </a:r>
          </a:p>
          <a:p>
            <a:pPr>
              <a:lnSpc>
                <a:spcPct val="108000"/>
              </a:lnSpc>
              <a:spcAft>
                <a:spcPts val="700"/>
              </a:spcAft>
              <a:defRPr sz="2000" b="0">
                <a:solidFill>
                  <a:srgbClr val="24382F"/>
                </a:solidFill>
                <a:latin typeface="Liberation Sans"/>
              </a:defRPr>
            </a:pPr>
            <a:r>
              <a:t>Node game server</a:t>
            </a:r>
          </a:p>
          <a:p>
            <a:pPr>
              <a:lnSpc>
                <a:spcPct val="108000"/>
              </a:lnSpc>
              <a:spcAft>
                <a:spcPts val="700"/>
              </a:spcAft>
              <a:defRPr sz="2000" b="0">
                <a:solidFill>
                  <a:srgbClr val="24382F"/>
                </a:solidFill>
                <a:latin typeface="Liberation Sans"/>
              </a:defRPr>
            </a:pPr>
            <a:r>
              <a:t>AssemblyAI Voice API</a:t>
            </a:r>
          </a:p>
        </p:txBody>
      </p:sp>
      <p:sp>
        <p:nvSpPr>
          <p:cNvPr id="12" name="TextBox 11"/>
          <p:cNvSpPr txBox="1"/>
          <p:nvPr/>
        </p:nvSpPr>
        <p:spPr>
          <a:xfrm>
            <a:off x="896112" y="4882896"/>
            <a:ext cx="2880360" cy="658368"/>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Exact proposals, owner decisions</a:t>
            </a:r>
          </a:p>
          <a:p>
            <a:pPr>
              <a:lnSpc>
                <a:spcPct val="108000"/>
              </a:lnSpc>
              <a:spcAft>
                <a:spcPts val="700"/>
              </a:spcAft>
              <a:defRPr sz="1400" b="0">
                <a:solidFill>
                  <a:srgbClr val="607066"/>
                </a:solidFill>
                <a:latin typeface="Liberation Sans"/>
              </a:defRPr>
            </a:pPr>
            <a:r>
              <a:t>and faithful captions.</a:t>
            </a:r>
          </a:p>
        </p:txBody>
      </p:sp>
      <p:sp>
        <p:nvSpPr>
          <p:cNvPr id="13" name="TextBox 12"/>
          <p:cNvSpPr txBox="1"/>
          <p:nvPr/>
        </p:nvSpPr>
        <p:spPr>
          <a:xfrm>
            <a:off x="4681728" y="2377440"/>
            <a:ext cx="2834640" cy="310896"/>
          </a:xfrm>
          <a:prstGeom prst="rect">
            <a:avLst/>
          </a:prstGeom>
          <a:noFill/>
        </p:spPr>
        <p:txBody>
          <a:bodyPr wrap="square" lIns="0" rIns="0" tIns="0" bIns="0" anchor="t">
            <a:spAutoFit/>
          </a:bodyPr>
          <a:lstStyle/>
          <a:p>
            <a:pPr>
              <a:lnSpc>
                <a:spcPct val="108000"/>
              </a:lnSpc>
              <a:spcAft>
                <a:spcPts val="700"/>
              </a:spcAft>
              <a:defRPr sz="1200" b="1">
                <a:solidFill>
                  <a:srgbClr val="557862"/>
                </a:solidFill>
                <a:latin typeface="Liberation Sans"/>
              </a:defRPr>
            </a:pPr>
            <a:r>
              <a:t>OBSERVED IN REAL VOICE</a:t>
            </a:r>
          </a:p>
        </p:txBody>
      </p:sp>
      <p:sp>
        <p:nvSpPr>
          <p:cNvPr id="14" name="TextBox 13"/>
          <p:cNvSpPr txBox="1"/>
          <p:nvPr/>
        </p:nvSpPr>
        <p:spPr>
          <a:xfrm>
            <a:off x="4681728" y="2907792"/>
            <a:ext cx="2779776" cy="1691640"/>
          </a:xfrm>
          <a:prstGeom prst="rect">
            <a:avLst/>
          </a:prstGeom>
          <a:noFill/>
        </p:spPr>
        <p:txBody>
          <a:bodyPr wrap="square" lIns="0" rIns="0" tIns="0" bIns="0" anchor="t">
            <a:spAutoFit/>
          </a:bodyPr>
          <a:lstStyle/>
          <a:p>
            <a:pPr>
              <a:lnSpc>
                <a:spcPct val="108000"/>
              </a:lnSpc>
              <a:spcAft>
                <a:spcPts val="700"/>
              </a:spcAft>
              <a:defRPr sz="1900" b="0">
                <a:solidFill>
                  <a:srgbClr val="24382F"/>
                </a:solidFill>
                <a:latin typeface="Liberation Sans"/>
              </a:defRPr>
            </a:pPr>
            <a:r>
              <a:t>0 unconfirmed commits</a:t>
            </a:r>
          </a:p>
          <a:p>
            <a:pPr>
              <a:lnSpc>
                <a:spcPct val="108000"/>
              </a:lnSpc>
              <a:spcAft>
                <a:spcPts val="700"/>
              </a:spcAft>
              <a:defRPr sz="1900" b="0">
                <a:solidFill>
                  <a:srgbClr val="24382F"/>
                </a:solidFill>
                <a:latin typeface="Liberation Sans"/>
              </a:defRPr>
            </a:pPr>
            <a:r>
              <a:t>1 confirmed Latch action</a:t>
            </a:r>
          </a:p>
          <a:p>
            <a:pPr>
              <a:lnSpc>
                <a:spcPct val="108000"/>
              </a:lnSpc>
              <a:spcAft>
                <a:spcPts val="700"/>
              </a:spcAft>
              <a:defRPr sz="1900" b="0">
                <a:solidFill>
                  <a:srgbClr val="24382F"/>
                </a:solidFill>
                <a:latin typeface="Liberation Sans"/>
              </a:defRPr>
            </a:pPr>
            <a:r>
              <a:t>Remote end acknowledged</a:t>
            </a:r>
          </a:p>
        </p:txBody>
      </p:sp>
      <p:sp>
        <p:nvSpPr>
          <p:cNvPr id="15" name="TextBox 14"/>
          <p:cNvSpPr txBox="1"/>
          <p:nvPr/>
        </p:nvSpPr>
        <p:spPr>
          <a:xfrm>
            <a:off x="4681728" y="4882896"/>
            <a:ext cx="2816352" cy="658368"/>
          </a:xfrm>
          <a:prstGeom prst="rect">
            <a:avLst/>
          </a:prstGeom>
          <a:noFill/>
        </p:spPr>
        <p:txBody>
          <a:bodyPr wrap="square" lIns="0" rIns="0" tIns="0" bIns="0" anchor="t">
            <a:spAutoFit/>
          </a:bodyPr>
          <a:lstStyle/>
          <a:p>
            <a:pPr>
              <a:lnSpc>
                <a:spcPct val="108000"/>
              </a:lnSpc>
              <a:spcAft>
                <a:spcPts val="700"/>
              </a:spcAft>
              <a:defRPr sz="1300" b="0">
                <a:solidFill>
                  <a:srgbClr val="607066"/>
                </a:solidFill>
                <a:latin typeface="Liberation Sans"/>
              </a:defRPr>
            </a:pPr>
            <a:r>
              <a:t>Synthetic voice + UI confirmation.</a:t>
            </a:r>
          </a:p>
          <a:p>
            <a:pPr>
              <a:lnSpc>
                <a:spcPct val="108000"/>
              </a:lnSpc>
              <a:spcAft>
                <a:spcPts val="700"/>
              </a:spcAft>
              <a:defRPr sz="1300" b="0">
                <a:solidFill>
                  <a:srgbClr val="607066"/>
                </a:solidFill>
                <a:latin typeface="Liberation Sans"/>
              </a:defRPr>
            </a:pPr>
            <a:r>
              <a:t>Stalled before the Cargo crossing.</a:t>
            </a:r>
          </a:p>
        </p:txBody>
      </p:sp>
      <p:sp>
        <p:nvSpPr>
          <p:cNvPr id="16" name="TextBox 15"/>
          <p:cNvSpPr txBox="1"/>
          <p:nvPr/>
        </p:nvSpPr>
        <p:spPr>
          <a:xfrm>
            <a:off x="8467344" y="2377440"/>
            <a:ext cx="2834640" cy="310896"/>
          </a:xfrm>
          <a:prstGeom prst="rect">
            <a:avLst/>
          </a:prstGeom>
          <a:noFill/>
        </p:spPr>
        <p:txBody>
          <a:bodyPr wrap="square" lIns="0" rIns="0" tIns="0" bIns="0" anchor="t">
            <a:spAutoFit/>
          </a:bodyPr>
          <a:lstStyle/>
          <a:p>
            <a:pPr>
              <a:lnSpc>
                <a:spcPct val="108000"/>
              </a:lnSpc>
              <a:spcAft>
                <a:spcPts val="700"/>
              </a:spcAft>
              <a:defRPr sz="1300" b="1">
                <a:solidFill>
                  <a:srgbClr val="557862"/>
                </a:solidFill>
                <a:latin typeface="Liberation Sans"/>
              </a:defRPr>
            </a:pPr>
            <a:r>
              <a:t>VERIFIED OFFLINE</a:t>
            </a:r>
          </a:p>
        </p:txBody>
      </p:sp>
      <p:sp>
        <p:nvSpPr>
          <p:cNvPr id="17" name="TextBox 16"/>
          <p:cNvSpPr txBox="1"/>
          <p:nvPr/>
        </p:nvSpPr>
        <p:spPr>
          <a:xfrm>
            <a:off x="8467344" y="2907792"/>
            <a:ext cx="2788920" cy="1645920"/>
          </a:xfrm>
          <a:prstGeom prst="rect">
            <a:avLst/>
          </a:prstGeom>
          <a:noFill/>
        </p:spPr>
        <p:txBody>
          <a:bodyPr wrap="square" lIns="0" rIns="0" tIns="0" bIns="0" anchor="t">
            <a:spAutoFit/>
          </a:bodyPr>
          <a:lstStyle/>
          <a:p>
            <a:pPr>
              <a:lnSpc>
                <a:spcPct val="108000"/>
              </a:lnSpc>
              <a:spcAft>
                <a:spcPts val="700"/>
              </a:spcAft>
              <a:defRPr sz="2000" b="0">
                <a:solidFill>
                  <a:srgbClr val="24382F"/>
                </a:solidFill>
                <a:latin typeface="Liberation Sans"/>
              </a:defRPr>
            </a:pPr>
            <a:r>
              <a:t>Both Gallery variants</a:t>
            </a:r>
          </a:p>
          <a:p>
            <a:pPr>
              <a:lnSpc>
                <a:spcPct val="108000"/>
              </a:lnSpc>
              <a:spcAft>
                <a:spcPts val="700"/>
              </a:spcAft>
              <a:defRPr sz="2000" b="0">
                <a:solidFill>
                  <a:srgbClr val="24382F"/>
                </a:solidFill>
                <a:latin typeface="Liberation Sans"/>
              </a:defRPr>
            </a:pPr>
            <a:r>
              <a:t>Dock and confirmed home</a:t>
            </a:r>
          </a:p>
          <a:p>
            <a:pPr>
              <a:lnSpc>
                <a:spcPct val="108000"/>
              </a:lnSpc>
              <a:spcAft>
                <a:spcPts val="700"/>
              </a:spcAft>
              <a:defRPr sz="2000" b="0">
                <a:solidFill>
                  <a:srgbClr val="24382F"/>
                </a:solidFill>
                <a:latin typeface="Liberation Sans"/>
              </a:defRPr>
            </a:pPr>
            <a:r>
              <a:t>Bounded recovery cases</a:t>
            </a:r>
          </a:p>
        </p:txBody>
      </p:sp>
      <p:sp>
        <p:nvSpPr>
          <p:cNvPr id="18" name="TextBox 17"/>
          <p:cNvSpPr txBox="1"/>
          <p:nvPr/>
        </p:nvSpPr>
        <p:spPr>
          <a:xfrm>
            <a:off x="8467344" y="4882896"/>
            <a:ext cx="2788920" cy="621792"/>
          </a:xfrm>
          <a:prstGeom prst="rect">
            <a:avLst/>
          </a:prstGeom>
          <a:noFill/>
        </p:spPr>
        <p:txBody>
          <a:bodyPr wrap="square" lIns="0" rIns="0" tIns="0" bIns="0" anchor="t">
            <a:spAutoFit/>
          </a:bodyPr>
          <a:lstStyle/>
          <a:p>
            <a:pPr>
              <a:lnSpc>
                <a:spcPct val="108000"/>
              </a:lnSpc>
              <a:spcAft>
                <a:spcPts val="700"/>
              </a:spcAft>
              <a:defRPr sz="1400" b="0">
                <a:solidFill>
                  <a:srgbClr val="607066"/>
                </a:solidFill>
                <a:latin typeface="Liberation Sans"/>
              </a:defRPr>
            </a:pPr>
            <a:r>
              <a:t>Practice and explicitly fake peers.</a:t>
            </a:r>
          </a:p>
          <a:p>
            <a:pPr>
              <a:lnSpc>
                <a:spcPct val="108000"/>
              </a:lnSpc>
              <a:spcAft>
                <a:spcPts val="700"/>
              </a:spcAft>
              <a:defRPr sz="1400" b="0">
                <a:solidFill>
                  <a:srgbClr val="607066"/>
                </a:solidFill>
                <a:latin typeface="Liberation Sans"/>
              </a:defRPr>
            </a:pPr>
            <a:r>
              <a:t>Not a real model pass.</a:t>
            </a:r>
          </a:p>
        </p:txBody>
      </p:sp>
      <p:sp>
        <p:nvSpPr>
          <p:cNvPr id="19" name="TextBox 18"/>
          <p:cNvSpPr txBox="1"/>
          <p:nvPr/>
        </p:nvSpPr>
        <p:spPr>
          <a:xfrm>
            <a:off x="749808" y="5961888"/>
            <a:ext cx="10789920" cy="402336"/>
          </a:xfrm>
          <a:prstGeom prst="rect">
            <a:avLst/>
          </a:prstGeom>
          <a:noFill/>
        </p:spPr>
        <p:txBody>
          <a:bodyPr wrap="square" lIns="0" rIns="0" tIns="0" bIns="0" anchor="t">
            <a:spAutoFit/>
          </a:bodyPr>
          <a:lstStyle/>
          <a:p>
            <a:pPr>
              <a:lnSpc>
                <a:spcPct val="108000"/>
              </a:lnSpc>
              <a:spcAft>
                <a:spcPts val="700"/>
              </a:spcAft>
              <a:defRPr sz="2200" b="1">
                <a:solidFill>
                  <a:srgbClr val="24382F"/>
                </a:solidFill>
                <a:latin typeface="Liberation Sans"/>
              </a:defRPr>
            </a:pPr>
            <a:r>
              <a:t>Full Live Rescue verification remains pending.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594360" y="448056"/>
            <a:ext cx="384048" cy="50292"/>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56616"/>
            <a:ext cx="9144000" cy="320040"/>
          </a:xfrm>
          <a:prstGeom prst="rect">
            <a:avLst/>
          </a:prstGeom>
          <a:noFill/>
        </p:spPr>
        <p:txBody>
          <a:bodyPr wrap="square" lIns="0" rIns="0" tIns="0" bIns="0" anchor="t">
            <a:spAutoFit/>
          </a:bodyPr>
          <a:lstStyle/>
          <a:p>
            <a:pPr>
              <a:lnSpc>
                <a:spcPct val="108000"/>
              </a:lnSpc>
              <a:spcAft>
                <a:spcPts val="700"/>
              </a:spcAft>
              <a:defRPr sz="1100" b="1">
                <a:solidFill>
                  <a:srgbClr val="607066"/>
                </a:solidFill>
                <a:latin typeface="Liberation Sans"/>
              </a:defRPr>
            </a:pPr>
            <a:r>
              <a:t>PRODUCT DIRECTION AND AVAILABILITY</a:t>
            </a:r>
          </a:p>
        </p:txBody>
      </p:sp>
      <p:sp>
        <p:nvSpPr>
          <p:cNvPr id="4" name="TextBox 3"/>
          <p:cNvSpPr txBox="1"/>
          <p:nvPr/>
        </p:nvSpPr>
        <p:spPr>
          <a:xfrm>
            <a:off x="594360" y="859536"/>
            <a:ext cx="10972800" cy="914400"/>
          </a:xfrm>
          <a:prstGeom prst="rect">
            <a:avLst/>
          </a:prstGeom>
          <a:noFill/>
        </p:spPr>
        <p:txBody>
          <a:bodyPr wrap="square" lIns="0" rIns="0" tIns="0" bIns="0" anchor="t">
            <a:spAutoFit/>
          </a:bodyPr>
          <a:lstStyle/>
          <a:p>
            <a:pPr>
              <a:lnSpc>
                <a:spcPct val="108000"/>
              </a:lnSpc>
              <a:spcAft>
                <a:spcPts val="700"/>
              </a:spcAft>
              <a:defRPr sz="3600" b="0">
                <a:solidFill>
                  <a:srgbClr val="24382F"/>
                </a:solidFill>
                <a:latin typeface="Liberation Serif"/>
              </a:defRPr>
            </a:pPr>
            <a:r>
              <a:t>A small robot. A shared way home.</a:t>
            </a:r>
          </a:p>
        </p:txBody>
      </p:sp>
      <p:sp>
        <p:nvSpPr>
          <p:cNvPr id="5" name="TextBox 4"/>
          <p:cNvSpPr txBox="1"/>
          <p:nvPr/>
        </p:nvSpPr>
        <p:spPr>
          <a:xfrm>
            <a:off x="621792" y="6437376"/>
            <a:ext cx="6400800" cy="201168"/>
          </a:xfrm>
          <a:prstGeom prst="rect">
            <a:avLst/>
          </a:prstGeom>
          <a:noFill/>
        </p:spPr>
        <p:txBody>
          <a:bodyPr wrap="square" lIns="0" rIns="0" tIns="0" bIns="0" anchor="t">
            <a:spAutoFit/>
          </a:bodyPr>
          <a:lstStyle/>
          <a:p>
            <a:pPr>
              <a:lnSpc>
                <a:spcPct val="108000"/>
              </a:lnSpc>
              <a:spcAft>
                <a:spcPts val="700"/>
              </a:spcAft>
              <a:defRPr sz="900" b="1">
                <a:solidFill>
                  <a:srgbClr val="607066"/>
                </a:solidFill>
                <a:latin typeface="Liberation Sans"/>
              </a:defRPr>
            </a:pPr>
            <a:r>
              <a:t>TALK ME HOME</a:t>
            </a:r>
          </a:p>
        </p:txBody>
      </p:sp>
      <p:sp>
        <p:nvSpPr>
          <p:cNvPr id="6" name="TextBox 5"/>
          <p:cNvSpPr txBox="1"/>
          <p:nvPr/>
        </p:nvSpPr>
        <p:spPr>
          <a:xfrm>
            <a:off x="10744200" y="6419088"/>
            <a:ext cx="822960" cy="228600"/>
          </a:xfrm>
          <a:prstGeom prst="rect">
            <a:avLst/>
          </a:prstGeom>
          <a:noFill/>
        </p:spPr>
        <p:txBody>
          <a:bodyPr wrap="square" lIns="0" rIns="0" tIns="0" bIns="0" anchor="t">
            <a:spAutoFit/>
          </a:bodyPr>
          <a:lstStyle/>
          <a:p>
            <a:pPr>
              <a:lnSpc>
                <a:spcPct val="108000"/>
              </a:lnSpc>
              <a:spcAft>
                <a:spcPts val="700"/>
              </a:spcAft>
              <a:defRPr sz="1000" b="0">
                <a:solidFill>
                  <a:srgbClr val="607066"/>
                </a:solidFill>
                <a:latin typeface="Liberation Sans"/>
              </a:defRPr>
            </a:pPr>
            <a:r>
              <a:t>06 / 06</a:t>
            </a:r>
          </a:p>
        </p:txBody>
      </p:sp>
      <p:pic>
        <p:nvPicPr>
          <p:cNvPr id="7" name="Picture 6" descr="home.png"/>
          <p:cNvPicPr>
            <a:picLocks noChangeAspect="1"/>
          </p:cNvPicPr>
          <p:nvPr/>
        </p:nvPicPr>
        <p:blipFill>
          <a:blip r:embed="rId2"/>
          <a:stretch>
            <a:fillRect/>
          </a:stretch>
        </p:blipFill>
        <p:spPr>
          <a:xfrm>
            <a:off x="621792" y="2033682"/>
            <a:ext cx="6245352" cy="3513010"/>
          </a:xfrm>
          <a:prstGeom prst="rect">
            <a:avLst/>
          </a:prstGeom>
        </p:spPr>
      </p:pic>
      <p:sp>
        <p:nvSpPr>
          <p:cNvPr id="8" name="TextBox 7"/>
          <p:cNvSpPr txBox="1"/>
          <p:nvPr/>
        </p:nvSpPr>
        <p:spPr>
          <a:xfrm>
            <a:off x="7333488" y="2157984"/>
            <a:ext cx="4114800" cy="320040"/>
          </a:xfrm>
          <a:prstGeom prst="rect">
            <a:avLst/>
          </a:prstGeom>
          <a:noFill/>
        </p:spPr>
        <p:txBody>
          <a:bodyPr wrap="square" lIns="0" rIns="0" tIns="0" bIns="0" anchor="t">
            <a:spAutoFit/>
          </a:bodyPr>
          <a:lstStyle/>
          <a:p>
            <a:pPr>
              <a:lnSpc>
                <a:spcPct val="108000"/>
              </a:lnSpc>
              <a:spcAft>
                <a:spcPts val="700"/>
              </a:spcAft>
              <a:defRPr sz="1300" b="1">
                <a:solidFill>
                  <a:srgbClr val="557862"/>
                </a:solidFill>
                <a:latin typeface="Liberation Sans"/>
              </a:defRPr>
            </a:pPr>
            <a:r>
              <a:t>PLAYABLE LOCALLY</a:t>
            </a:r>
          </a:p>
        </p:txBody>
      </p:sp>
      <p:sp>
        <p:nvSpPr>
          <p:cNvPr id="9" name="TextBox 8"/>
          <p:cNvSpPr txBox="1"/>
          <p:nvPr/>
        </p:nvSpPr>
        <p:spPr>
          <a:xfrm>
            <a:off x="7333488" y="2688336"/>
            <a:ext cx="4178808" cy="896112"/>
          </a:xfrm>
          <a:prstGeom prst="rect">
            <a:avLst/>
          </a:prstGeom>
          <a:noFill/>
        </p:spPr>
        <p:txBody>
          <a:bodyPr wrap="square" lIns="0" rIns="0" tIns="0" bIns="0" anchor="t">
            <a:spAutoFit/>
          </a:bodyPr>
          <a:lstStyle/>
          <a:p>
            <a:pPr>
              <a:lnSpc>
                <a:spcPct val="108000"/>
              </a:lnSpc>
              <a:spcAft>
                <a:spcPts val="700"/>
              </a:spcAft>
              <a:defRPr sz="2500" b="0">
                <a:solidFill>
                  <a:srgbClr val="24382F"/>
                </a:solidFill>
                <a:latin typeface="Liberation Sans"/>
              </a:defRPr>
            </a:pPr>
            <a:r>
              <a:t>Three-chapter Rescue</a:t>
            </a:r>
          </a:p>
          <a:p>
            <a:pPr>
              <a:lnSpc>
                <a:spcPct val="108000"/>
              </a:lnSpc>
              <a:spcAft>
                <a:spcPts val="700"/>
              </a:spcAft>
              <a:defRPr sz="2500" b="0">
                <a:solidFill>
                  <a:srgbClr val="24382F"/>
                </a:solidFill>
                <a:latin typeface="Liberation Sans"/>
              </a:defRPr>
            </a:pPr>
            <a:r>
              <a:t>and optional Training.</a:t>
            </a:r>
          </a:p>
        </p:txBody>
      </p:sp>
      <p:sp>
        <p:nvSpPr>
          <p:cNvPr id="10" name="TextBox 9"/>
          <p:cNvSpPr txBox="1"/>
          <p:nvPr/>
        </p:nvSpPr>
        <p:spPr>
          <a:xfrm>
            <a:off x="7333488" y="3904487"/>
            <a:ext cx="4160520" cy="749808"/>
          </a:xfrm>
          <a:prstGeom prst="rect">
            <a:avLst/>
          </a:prstGeom>
          <a:noFill/>
        </p:spPr>
        <p:txBody>
          <a:bodyPr wrap="square" lIns="0" rIns="0" tIns="0" bIns="0" anchor="t">
            <a:spAutoFit/>
          </a:bodyPr>
          <a:lstStyle/>
          <a:p>
            <a:pPr>
              <a:lnSpc>
                <a:spcPct val="108000"/>
              </a:lnSpc>
              <a:spcAft>
                <a:spcPts val="700"/>
              </a:spcAft>
              <a:defRPr sz="1800" b="0">
                <a:solidFill>
                  <a:srgbClr val="607066"/>
                </a:solidFill>
                <a:latin typeface="Liberation Sans"/>
              </a:defRPr>
            </a:pPr>
            <a:r>
              <a:t>Next: evaluate natural play</a:t>
            </a:r>
          </a:p>
          <a:p>
            <a:pPr>
              <a:lnSpc>
                <a:spcPct val="108000"/>
              </a:lnSpc>
              <a:spcAft>
                <a:spcPts val="700"/>
              </a:spcAft>
              <a:defRPr sz="1800" b="0">
                <a:solidFill>
                  <a:srgbClr val="607066"/>
                </a:solidFill>
                <a:latin typeface="Liberation Sans"/>
              </a:defRPr>
            </a:pPr>
            <a:r>
              <a:t>and explore more authored episodes.</a:t>
            </a:r>
          </a:p>
        </p:txBody>
      </p:sp>
      <p:sp>
        <p:nvSpPr>
          <p:cNvPr id="11" name="TextBox 10"/>
          <p:cNvSpPr txBox="1"/>
          <p:nvPr/>
        </p:nvSpPr>
        <p:spPr>
          <a:xfrm>
            <a:off x="7333488" y="5020056"/>
            <a:ext cx="4215384" cy="950976"/>
          </a:xfrm>
          <a:prstGeom prst="rect">
            <a:avLst/>
          </a:prstGeom>
          <a:noFill/>
        </p:spPr>
        <p:txBody>
          <a:bodyPr wrap="square" lIns="0" rIns="0" tIns="0" bIns="0" anchor="t">
            <a:spAutoFit/>
          </a:bodyPr>
          <a:lstStyle/>
          <a:p>
            <a:pPr>
              <a:lnSpc>
                <a:spcPct val="108000"/>
              </a:lnSpc>
              <a:spcAft>
                <a:spcPts val="700"/>
              </a:spcAft>
              <a:defRPr sz="1600" b="0">
                <a:solidFill>
                  <a:srgbClr val="24382F"/>
                </a:solidFill>
                <a:latin typeface="Liberation Sans"/>
              </a:defRPr>
            </a:pPr>
            <a:r>
              <a:t>Public demo URL: not deployed.</a:t>
            </a:r>
          </a:p>
          <a:p>
            <a:pPr>
              <a:lnSpc>
                <a:spcPct val="108000"/>
              </a:lnSpc>
              <a:spcAft>
                <a:spcPts val="700"/>
              </a:spcAft>
              <a:defRPr sz="1600" b="0">
                <a:solidFill>
                  <a:srgbClr val="24382F"/>
                </a:solidFill>
                <a:latin typeface="Liberation Sans"/>
              </a:defRPr>
            </a:pPr>
            <a:r>
              <a:t>Full Live acceptance: pending.</a:t>
            </a:r>
          </a:p>
          <a:p>
            <a:pPr>
              <a:lnSpc>
                <a:spcPct val="108000"/>
              </a:lnSpc>
              <a:spcAft>
                <a:spcPts val="700"/>
              </a:spcAft>
              <a:defRPr sz="1600" b="0">
                <a:solidFill>
                  <a:srgbClr val="24382F"/>
                </a:solidFill>
                <a:latin typeface="Liberation Sans"/>
              </a:defRPr>
            </a:pPr>
            <a:r>
              <a:t>Upload and event entry: not submitted.</a:t>
            </a:r>
          </a:p>
        </p:txBody>
      </p:sp>
      <p:sp>
        <p:nvSpPr>
          <p:cNvPr id="12" name="TextBox 11"/>
          <p:cNvSpPr txBox="1"/>
          <p:nvPr/>
        </p:nvSpPr>
        <p:spPr>
          <a:xfrm>
            <a:off x="658368" y="5971032"/>
            <a:ext cx="10881360" cy="320040"/>
          </a:xfrm>
          <a:prstGeom prst="rect">
            <a:avLst/>
          </a:prstGeom>
          <a:noFill/>
        </p:spPr>
        <p:txBody>
          <a:bodyPr wrap="square" lIns="0" rIns="0" tIns="0" bIns="0" anchor="t">
            <a:spAutoFit/>
          </a:bodyPr>
          <a:lstStyle/>
          <a:p>
            <a:pPr>
              <a:lnSpc>
                <a:spcPct val="108000"/>
              </a:lnSpc>
              <a:spcAft>
                <a:spcPts val="700"/>
              </a:spcAft>
              <a:defRPr sz="1200" b="0">
                <a:solidFill>
                  <a:srgbClr val="607066"/>
                </a:solidFill>
                <a:latin typeface="Liberation Sans"/>
              </a:defRPr>
            </a:pPr>
            <a:r>
              <a:t>Practice ending shown · a product direction, not a claim of customers, revenue or measured fun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Me Home — voice-led co-op with explicit confirmation</dc:title>
  <dc:subject>Local submission draft; full Live Rescue remains unverified</dc:subject>
  <dc:creator>Talk Me Home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